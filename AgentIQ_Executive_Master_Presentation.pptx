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0F172A"/>
          </a:solidFill>
          <a:ln w="6350">
            <a:solidFill>
              <a:srgbClr val="2836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528816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Calibri"/>
              </a:defRPr>
            </a:pPr>
            <a:r>
              <a:t>🛡️ AgentIQ SENTINEL  •  Continuous Zero-Trust Cognitive Cyber Defense  •  TransOrg Datathon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0" y="6528816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 b="1">
                <a:solidFill>
                  <a:srgbClr val="06B6D4"/>
                </a:solidFill>
                <a:latin typeface="Calibri"/>
              </a:defRPr>
            </a:pPr>
            <a:r>
              <a:t>CONFIDENTIAL  |  SLIDE 1 OF 15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731520"/>
            <a:ext cx="10728655" cy="548640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005840"/>
            <a:ext cx="996696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06B6D4"/>
                </a:solidFill>
                <a:latin typeface="Trebuchet MS"/>
              </a:defRPr>
            </a:pPr>
            <a:r>
              <a:t>🛡️ TRANSORG DATATHON 2026  •  DEFCON LEVEL 2 ACTIVE  •  NIST SP 800-207 ZERO-TRUST</a:t>
            </a:r>
          </a:p>
          <a:p>
            <a:pPr>
              <a:spcBef>
                <a:spcPts val="400"/>
              </a:spcBef>
              <a:defRPr sz="4000" b="1">
                <a:solidFill>
                  <a:srgbClr val="FFFFFF"/>
                </a:solidFill>
                <a:latin typeface="Trebuchet MS"/>
              </a:defRPr>
            </a:pPr>
            <a:r>
              <a:t>AgentIQ SENTINEL</a:t>
            </a:r>
          </a:p>
          <a:p>
            <a:pPr>
              <a:spcBef>
                <a:spcPts val="200"/>
              </a:spcBef>
              <a:defRPr sz="2000" b="1">
                <a:solidFill>
                  <a:srgbClr val="38BDF8"/>
                </a:solidFill>
                <a:latin typeface="Trebuchet MS"/>
              </a:defRPr>
            </a:pPr>
            <a:r>
              <a:t>Continuous Threat Intelligence &amp; Zero-Trust Verification Engine</a:t>
            </a:r>
          </a:p>
          <a:p>
            <a:pPr>
              <a:spcBef>
                <a:spcPts val="1200"/>
              </a:spcBef>
              <a:defRPr sz="1200">
                <a:solidFill>
                  <a:srgbClr val="E2E8F0"/>
                </a:solidFill>
                <a:latin typeface="Calibri"/>
              </a:defRPr>
            </a:pPr>
            <a:r>
              <a:t>Unifying 62,431 multi-vector telemetry events across 3,000 enterprise identities in real time — surfacing 507 offboarded employee breaches, clock-skew log tampering, and circular IP tunneling with sub-8ms DuckDB OLAP &amp; Dual-Model AI.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97280" y="4480560"/>
            <a:ext cx="2286000" cy="137160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280160" y="4480560"/>
            <a:ext cx="1920240" cy="36576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07007" y="4553712"/>
            <a:ext cx="2066543" cy="1225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6B6D4"/>
                </a:solidFill>
                <a:latin typeface="Trebuchet MS"/>
              </a:defRPr>
            </a:pPr>
            <a:r>
              <a:t>62,431</a:t>
            </a:r>
          </a:p>
          <a:p>
            <a:pPr>
              <a:spcBef>
                <a:spcPts val="100"/>
              </a:spcBef>
              <a:defRPr sz="1050" b="1">
                <a:solidFill>
                  <a:srgbClr val="FFFFFF"/>
                </a:solidFill>
                <a:latin typeface="Trebuchet MS"/>
              </a:defRPr>
            </a:pPr>
            <a:r>
              <a:t>Telemetry Events</a:t>
            </a:r>
          </a:p>
          <a:p>
            <a:pPr>
              <a:spcBef>
                <a:spcPts val="100"/>
              </a:spcBef>
              <a:defRPr sz="850">
                <a:solidFill>
                  <a:srgbClr val="94A3B8"/>
                </a:solidFill>
                <a:latin typeface="Calibri"/>
              </a:defRPr>
            </a:pPr>
            <a:r>
              <a:t>Sub-8ms DuckDB OLAP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66160" y="4480560"/>
            <a:ext cx="2286000" cy="137160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749039" y="4480560"/>
            <a:ext cx="1920240" cy="36576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75887" y="4553712"/>
            <a:ext cx="2066543" cy="1225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43F5E"/>
                </a:solidFill>
                <a:latin typeface="Trebuchet MS"/>
              </a:defRPr>
            </a:pPr>
            <a:r>
              <a:t>507</a:t>
            </a:r>
          </a:p>
          <a:p>
            <a:pPr>
              <a:spcBef>
                <a:spcPts val="100"/>
              </a:spcBef>
              <a:defRPr sz="1050" b="1">
                <a:solidFill>
                  <a:srgbClr val="FFFFFF"/>
                </a:solidFill>
                <a:latin typeface="Trebuchet MS"/>
              </a:defRPr>
            </a:pPr>
            <a:r>
              <a:t>Active Breaches</a:t>
            </a:r>
          </a:p>
          <a:p>
            <a:pPr>
              <a:spcBef>
                <a:spcPts val="100"/>
              </a:spcBef>
              <a:defRPr sz="850">
                <a:solidFill>
                  <a:srgbClr val="94A3B8"/>
                </a:solidFill>
                <a:latin typeface="Calibri"/>
              </a:defRPr>
            </a:pPr>
            <a:r>
              <a:t>Offboarded staff active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035040" y="4480560"/>
            <a:ext cx="2286000" cy="137160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17920" y="4480560"/>
            <a:ext cx="1920240" cy="36576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44768" y="4553712"/>
            <a:ext cx="2066543" cy="1225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A855F7"/>
                </a:solidFill>
                <a:latin typeface="Trebuchet MS"/>
              </a:defRPr>
            </a:pPr>
            <a:r>
              <a:t>483</a:t>
            </a:r>
          </a:p>
          <a:p>
            <a:pPr>
              <a:spcBef>
                <a:spcPts val="100"/>
              </a:spcBef>
              <a:defRPr sz="1050" b="1">
                <a:solidFill>
                  <a:srgbClr val="FFFFFF"/>
                </a:solidFill>
                <a:latin typeface="Trebuchet MS"/>
              </a:defRPr>
            </a:pPr>
            <a:r>
              <a:t>Clock-Skew Alerts</a:t>
            </a:r>
          </a:p>
          <a:p>
            <a:pPr>
              <a:spcBef>
                <a:spcPts val="100"/>
              </a:spcBef>
              <a:defRPr sz="850">
                <a:solidFill>
                  <a:srgbClr val="94A3B8"/>
                </a:solidFill>
                <a:latin typeface="Calibri"/>
              </a:defRPr>
            </a:pPr>
            <a:r>
              <a:t>Anti-tamper forensics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503920" y="4480560"/>
            <a:ext cx="2560320" cy="137160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686800" y="4480560"/>
            <a:ext cx="2194560" cy="365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13648" y="4553712"/>
            <a:ext cx="2340863" cy="1225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0B981"/>
                </a:solidFill>
                <a:latin typeface="Trebuchet MS"/>
              </a:defRPr>
            </a:pPr>
            <a:r>
              <a:t>Dual AI</a:t>
            </a:r>
          </a:p>
          <a:p>
            <a:pPr>
              <a:spcBef>
                <a:spcPts val="100"/>
              </a:spcBef>
              <a:defRPr sz="1050" b="1">
                <a:solidFill>
                  <a:srgbClr val="FFFFFF"/>
                </a:solidFill>
                <a:latin typeface="Trebuchet MS"/>
              </a:defRPr>
            </a:pPr>
            <a:r>
              <a:t>Groq 120B + Gemini</a:t>
            </a:r>
          </a:p>
          <a:p>
            <a:pPr>
              <a:spcBef>
                <a:spcPts val="100"/>
              </a:spcBef>
              <a:defRPr sz="850">
                <a:solidFill>
                  <a:srgbClr val="94A3B8"/>
                </a:solidFill>
                <a:latin typeface="Calibri"/>
              </a:defRPr>
            </a:pPr>
            <a:r>
              <a:t>Sub-120ms Text-to-SQL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0F172A"/>
          </a:solidFill>
          <a:ln w="6350">
            <a:solidFill>
              <a:srgbClr val="2836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528816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Calibri"/>
              </a:defRPr>
            </a:pPr>
            <a:r>
              <a:t>🛡️ AgentIQ SENTINEL  •  Continuous Zero-Trust Cognitive Cyber Defense  •  TransOrg Datathon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0" y="6528816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 b="1">
                <a:solidFill>
                  <a:srgbClr val="06B6D4"/>
                </a:solidFill>
                <a:latin typeface="Calibri"/>
              </a:defRPr>
            </a:pPr>
            <a:r>
              <a:t>CONFIDENTIAL  |  SLIDE 2 OF 15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92608"/>
            <a:ext cx="3108960" cy="256032"/>
          </a:xfrm>
          <a:prstGeom prst="roundRect">
            <a:avLst/>
          </a:prstGeom>
          <a:solidFill>
            <a:srgbClr val="18223A"/>
          </a:solidFill>
          <a:ln w="1016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92608"/>
            <a:ext cx="30175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1">
                <a:solidFill>
                  <a:srgbClr val="06B6D4"/>
                </a:solidFill>
                <a:latin typeface="Trebuchet MS"/>
              </a:defRPr>
            </a:pPr>
            <a:r>
              <a:t>⚡ 01. PROBLEM STATEMENT &amp; THREAT CRISIS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9436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FFFFFF"/>
                </a:solidFill>
                <a:latin typeface="Trebuchet MS"/>
              </a:defRPr>
            </a:pPr>
            <a:r>
              <a:t>The Enterprise Identity Blindspot in Zero-Trust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078992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94A3B8"/>
                </a:solidFill>
                <a:latin typeface="Calibri"/>
              </a:defRPr>
            </a:pPr>
            <a:r>
              <a:t>Legacy SIEMs fail to correlate fragmented logs, allowing terminated accounts to operate undetected.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1463040"/>
            <a:ext cx="3383280" cy="338328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2836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1520" y="1463040"/>
            <a:ext cx="3383280" cy="4572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1572768"/>
            <a:ext cx="3054096" cy="3163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Trebuchet MS"/>
              </a:defRPr>
            </a:pPr>
            <a:r>
              <a:t>1. Identity-Perimeter Erosion</a:t>
            </a:r>
          </a:p>
          <a:p>
            <a:pPr>
              <a:defRPr sz="850" b="1">
                <a:solidFill>
                  <a:srgbClr val="F43F5E"/>
                </a:solidFill>
                <a:latin typeface="Calibri"/>
              </a:defRPr>
            </a:pPr>
            <a:r>
              <a:t>[CRITICAL RISK]</a:t>
            </a:r>
          </a:p>
          <a:p>
            <a:pPr>
              <a:spcBef>
                <a:spcPts val="400"/>
              </a:spcBef>
              <a:defRPr sz="1050">
                <a:solidFill>
                  <a:srgbClr val="E2E8F0"/>
                </a:solidFill>
                <a:latin typeface="Calibri"/>
              </a:defRPr>
            </a:pPr>
            <a:r>
              <a:t>• The Blindspot: 81% of advanced enterprise breaches exploit valid credentials rather than software zero-days.</a:t>
            </a:r>
          </a:p>
          <a:p>
            <a:pPr>
              <a:spcBef>
                <a:spcPts val="400"/>
              </a:spcBef>
              <a:defRPr sz="1050">
                <a:solidFill>
                  <a:srgbClr val="E2E8F0"/>
                </a:solidFill>
                <a:latin typeface="Calibri"/>
              </a:defRPr>
            </a:pPr>
            <a:r>
              <a:t>• Offboarding Lag: Deprovisioning delays leave active Kerberos/OAuth tokens in circulation for months.</a:t>
            </a:r>
          </a:p>
          <a:p>
            <a:pPr>
              <a:spcBef>
                <a:spcPts val="400"/>
              </a:spcBef>
              <a:defRPr sz="1050">
                <a:solidFill>
                  <a:srgbClr val="E2E8F0"/>
                </a:solidFill>
                <a:latin typeface="Calibri"/>
              </a:defRPr>
            </a:pPr>
            <a:r>
              <a:t>• Multi-Cloud Disconnect: Identity providers (Okta/AD) do not sync with VPC firewall rules in real time.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89120" y="1463040"/>
            <a:ext cx="3383280" cy="338328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2836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89120" y="1463040"/>
            <a:ext cx="3383280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53712" y="1572768"/>
            <a:ext cx="3054096" cy="3163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Trebuchet MS"/>
              </a:defRPr>
            </a:pPr>
            <a:r>
              <a:t>2. Telemetry Ingestion Silos</a:t>
            </a:r>
          </a:p>
          <a:p>
            <a:pPr>
              <a:defRPr sz="850" b="1">
                <a:solidFill>
                  <a:srgbClr val="F59E0B"/>
                </a:solidFill>
                <a:latin typeface="Calibri"/>
              </a:defRPr>
            </a:pPr>
            <a:r>
              <a:t>[OPERATIONAL BOTTLENECK]</a:t>
            </a:r>
          </a:p>
          <a:p>
            <a:pPr>
              <a:spcBef>
                <a:spcPts val="400"/>
              </a:spcBef>
              <a:defRPr sz="1050">
                <a:solidFill>
                  <a:srgbClr val="E2E8F0"/>
                </a:solidFill>
                <a:latin typeface="Calibri"/>
              </a:defRPr>
            </a:pPr>
            <a:r>
              <a:t>• Data Fragmentation: EDR endpoint logs, IAM auth events, and VPC flow packets live in separate silos.</a:t>
            </a:r>
          </a:p>
          <a:p>
            <a:pPr>
              <a:spcBef>
                <a:spcPts val="400"/>
              </a:spcBef>
              <a:defRPr sz="1050">
                <a:solidFill>
                  <a:srgbClr val="E2E8F0"/>
                </a:solidFill>
                <a:latin typeface="Calibri"/>
              </a:defRPr>
            </a:pPr>
            <a:r>
              <a:t>• Slow Query Latency: Correlating 60k+ events on relational DBs takes &gt; 400ms per query.</a:t>
            </a:r>
          </a:p>
          <a:p>
            <a:pPr>
              <a:spcBef>
                <a:spcPts val="400"/>
              </a:spcBef>
              <a:defRPr sz="1050">
                <a:solidFill>
                  <a:srgbClr val="E2E8F0"/>
                </a:solidFill>
                <a:latin typeface="Calibri"/>
              </a:defRPr>
            </a:pPr>
            <a:r>
              <a:t>• Alert Fatigue: SOC analysts drown in raw unlinked alerts without entity risk context.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46720" y="1463040"/>
            <a:ext cx="3383280" cy="338328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2836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46720" y="1463040"/>
            <a:ext cx="3383280" cy="4572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11312" y="1572768"/>
            <a:ext cx="3054096" cy="3163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Trebuchet MS"/>
              </a:defRPr>
            </a:pPr>
            <a:r>
              <a:t>3. Clock-Skew Log Tampering</a:t>
            </a:r>
          </a:p>
          <a:p>
            <a:pPr>
              <a:defRPr sz="850" b="1">
                <a:solidFill>
                  <a:srgbClr val="A855F7"/>
                </a:solidFill>
                <a:latin typeface="Calibri"/>
              </a:defRPr>
            </a:pPr>
            <a:r>
              <a:t>[FORENSIC EVASION]</a:t>
            </a:r>
          </a:p>
          <a:p>
            <a:pPr>
              <a:spcBef>
                <a:spcPts val="400"/>
              </a:spcBef>
              <a:defRPr sz="1050">
                <a:solidFill>
                  <a:srgbClr val="E2E8F0"/>
                </a:solidFill>
                <a:latin typeface="Calibri"/>
              </a:defRPr>
            </a:pPr>
            <a:r>
              <a:t>• Adversarial Evasion: Attackers modify host NTP clocks to disguise the chronological timeline.</a:t>
            </a:r>
          </a:p>
          <a:p>
            <a:pPr>
              <a:spcBef>
                <a:spcPts val="400"/>
              </a:spcBef>
              <a:defRPr sz="1050">
                <a:solidFill>
                  <a:srgbClr val="E2E8F0"/>
                </a:solidFill>
                <a:latin typeface="Calibri"/>
              </a:defRPr>
            </a:pPr>
            <a:r>
              <a:t>• Broken SIEM Rules: Time-based correlation fails when resolution time precedes detection.</a:t>
            </a:r>
          </a:p>
          <a:p>
            <a:pPr>
              <a:spcBef>
                <a:spcPts val="400"/>
              </a:spcBef>
              <a:defRPr sz="1050">
                <a:solidFill>
                  <a:srgbClr val="E2E8F0"/>
                </a:solidFill>
                <a:latin typeface="Calibri"/>
              </a:defRPr>
            </a:pPr>
            <a:r>
              <a:t>• Court Inadmissibility: Non-validated forensic logs are easily contested during litigation.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5029200"/>
            <a:ext cx="10728655" cy="1234440"/>
          </a:xfrm>
          <a:prstGeom prst="roundRect">
            <a:avLst/>
          </a:prstGeom>
          <a:solidFill>
            <a:srgbClr val="18223A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5102352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Trebuchet MS"/>
              </a:defRPr>
            </a:pPr>
            <a:r>
              <a:t>💥 CORE DATATHON DISCOVERY ACROSS 62,431 TELEMETRY EVENTS</a:t>
            </a:r>
          </a:p>
          <a:p>
            <a:pPr>
              <a:spcBef>
                <a:spcPts val="200"/>
              </a:spcBef>
              <a:defRPr sz="1000">
                <a:solidFill>
                  <a:srgbClr val="E2E8F0"/>
                </a:solidFill>
                <a:latin typeface="Calibri"/>
              </a:defRPr>
            </a:pPr>
            <a:r>
              <a:t>• 507 Terminated Accounts actively executing database queries &amp; exfiltrating data post-offboarding.</a:t>
            </a:r>
            <a:br/>
            <a:r>
              <a:t>• 4,892 Failed Logins with brute-force credential stuffing  •  483 Temporal Clock-Skew Paradoxes where resolution time preceded detection.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0F172A"/>
          </a:solidFill>
          <a:ln w="6350">
            <a:solidFill>
              <a:srgbClr val="2836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528816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Calibri"/>
              </a:defRPr>
            </a:pPr>
            <a:r>
              <a:t>🛡️ AgentIQ SENTINEL  •  Continuous Zero-Trust Cognitive Cyber Defense  •  TransOrg Datathon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0" y="6528816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 b="1">
                <a:solidFill>
                  <a:srgbClr val="06B6D4"/>
                </a:solidFill>
                <a:latin typeface="Calibri"/>
              </a:defRPr>
            </a:pPr>
            <a:r>
              <a:t>CONFIDENTIAL  |  SLIDE 3 OF 15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92608"/>
            <a:ext cx="3108960" cy="256032"/>
          </a:xfrm>
          <a:prstGeom prst="roundRect">
            <a:avLst/>
          </a:prstGeom>
          <a:solidFill>
            <a:srgbClr val="18223A"/>
          </a:solidFill>
          <a:ln w="1016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92608"/>
            <a:ext cx="30175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1">
                <a:solidFill>
                  <a:srgbClr val="06B6D4"/>
                </a:solidFill>
                <a:latin typeface="Trebuchet MS"/>
              </a:defRPr>
            </a:pPr>
            <a:r>
              <a:t>⚡ 02. MULTI-VECTOR TELEMETRY PIPELINE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9436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FFFFFF"/>
                </a:solidFill>
                <a:latin typeface="Trebuchet MS"/>
              </a:defRPr>
            </a:pPr>
            <a:r>
              <a:t>Harmonizing 62,431 Multi-Vector Enterprise Events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078992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94A3B8"/>
                </a:solidFill>
                <a:latin typeface="Calibri"/>
              </a:defRPr>
            </a:pPr>
            <a:r>
              <a:t>Ingesting and cross-correlating 4 disparate enterprise sources into high-speed DuckDB memory.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1463040"/>
            <a:ext cx="2468880" cy="123444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14400" y="1463040"/>
            <a:ext cx="2103120" cy="36576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8" y="1536192"/>
            <a:ext cx="2249424" cy="10881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6B6D4"/>
                </a:solidFill>
                <a:latin typeface="Trebuchet MS"/>
              </a:defRPr>
            </a:pPr>
            <a:r>
              <a:t>62,431</a:t>
            </a:r>
          </a:p>
          <a:p>
            <a:pPr>
              <a:spcBef>
                <a:spcPts val="100"/>
              </a:spcBef>
              <a:defRPr sz="1050" b="1">
                <a:solidFill>
                  <a:srgbClr val="FFFFFF"/>
                </a:solidFill>
                <a:latin typeface="Trebuchet MS"/>
              </a:defRPr>
            </a:pPr>
            <a:r>
              <a:t>Total Ingested Events</a:t>
            </a:r>
          </a:p>
          <a:p>
            <a:pPr>
              <a:spcBef>
                <a:spcPts val="100"/>
              </a:spcBef>
              <a:defRPr sz="850">
                <a:solidFill>
                  <a:srgbClr val="94A3B8"/>
                </a:solidFill>
                <a:latin typeface="Calibri"/>
              </a:defRPr>
            </a:pPr>
            <a:r>
              <a:t>100% normalized in DuckDB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74720" y="1463040"/>
            <a:ext cx="2468880" cy="123444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657600" y="1463040"/>
            <a:ext cx="2103120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84448" y="1536192"/>
            <a:ext cx="2249424" cy="10881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3B82F6"/>
                </a:solidFill>
                <a:latin typeface="Trebuchet MS"/>
              </a:defRPr>
            </a:pPr>
            <a:r>
              <a:t>3,000</a:t>
            </a:r>
          </a:p>
          <a:p>
            <a:pPr>
              <a:spcBef>
                <a:spcPts val="100"/>
              </a:spcBef>
              <a:defRPr sz="1050" b="1">
                <a:solidFill>
                  <a:srgbClr val="FFFFFF"/>
                </a:solidFill>
                <a:latin typeface="Trebuchet MS"/>
              </a:defRPr>
            </a:pPr>
            <a:r>
              <a:t>Enterprise Identities</a:t>
            </a:r>
          </a:p>
          <a:p>
            <a:pPr>
              <a:spcBef>
                <a:spcPts val="100"/>
              </a:spcBef>
              <a:defRPr sz="850">
                <a:solidFill>
                  <a:srgbClr val="94A3B8"/>
                </a:solidFill>
                <a:latin typeface="Calibri"/>
              </a:defRPr>
            </a:pPr>
            <a:r>
              <a:t>Across 6 Corporate Depts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1463040"/>
            <a:ext cx="2468880" cy="123444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0" y="1463040"/>
            <a:ext cx="2103120" cy="36576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27648" y="1536192"/>
            <a:ext cx="2249424" cy="10881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A855F7"/>
                </a:solidFill>
                <a:latin typeface="Trebuchet MS"/>
              </a:defRPr>
            </a:pPr>
            <a:r>
              <a:t>3,091</a:t>
            </a:r>
          </a:p>
          <a:p>
            <a:pPr>
              <a:spcBef>
                <a:spcPts val="100"/>
              </a:spcBef>
              <a:defRPr sz="1050" b="1">
                <a:solidFill>
                  <a:srgbClr val="FFFFFF"/>
                </a:solidFill>
                <a:latin typeface="Trebuchet MS"/>
              </a:defRPr>
            </a:pPr>
            <a:r>
              <a:t>Unique Hosts</a:t>
            </a:r>
          </a:p>
          <a:p>
            <a:pPr>
              <a:spcBef>
                <a:spcPts val="100"/>
              </a:spcBef>
              <a:defRPr sz="850">
                <a:solidFill>
                  <a:srgbClr val="94A3B8"/>
                </a:solidFill>
                <a:latin typeface="Calibri"/>
              </a:defRPr>
            </a:pPr>
            <a:r>
              <a:t>Endpoints, Servers &amp; Vaults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961120" y="1463040"/>
            <a:ext cx="2468880" cy="123444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144000" y="1463040"/>
            <a:ext cx="2103120" cy="36576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070848" y="1536192"/>
            <a:ext cx="2249424" cy="10881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43F5E"/>
                </a:solidFill>
                <a:latin typeface="Trebuchet MS"/>
              </a:defRPr>
            </a:pPr>
            <a:r>
              <a:t>507</a:t>
            </a:r>
          </a:p>
          <a:p>
            <a:pPr>
              <a:spcBef>
                <a:spcPts val="100"/>
              </a:spcBef>
              <a:defRPr sz="1050" b="1">
                <a:solidFill>
                  <a:srgbClr val="FFFFFF"/>
                </a:solidFill>
                <a:latin typeface="Trebuchet MS"/>
              </a:defRPr>
            </a:pPr>
            <a:r>
              <a:t>Deprovisioning Violations</a:t>
            </a:r>
          </a:p>
          <a:p>
            <a:pPr>
              <a:spcBef>
                <a:spcPts val="100"/>
              </a:spcBef>
              <a:defRPr sz="850">
                <a:solidFill>
                  <a:srgbClr val="94A3B8"/>
                </a:solidFill>
                <a:latin typeface="Calibri"/>
              </a:defRPr>
            </a:pPr>
            <a:r>
              <a:t>Terminated users active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2880360"/>
            <a:ext cx="5212080" cy="338328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2836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31520" y="2880360"/>
            <a:ext cx="5212080" cy="457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96112" y="2990088"/>
            <a:ext cx="4882896" cy="3163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Trebuchet MS"/>
              </a:defRPr>
            </a:pPr>
            <a:r>
              <a:t>1. Identity &amp; Authentication Feeds</a:t>
            </a:r>
          </a:p>
          <a:p>
            <a:pPr>
              <a:defRPr sz="850" b="1">
                <a:solidFill>
                  <a:srgbClr val="3B82F6"/>
                </a:solidFill>
                <a:latin typeface="Calibri"/>
              </a:defRPr>
            </a:pPr>
            <a:r>
              <a:t>[IDENTITY &amp; AUTH]</a:t>
            </a:r>
          </a:p>
          <a:p>
            <a:pPr>
              <a:spcBef>
                <a:spcPts val="400"/>
              </a:spcBef>
              <a:defRPr sz="1050">
                <a:solidFill>
                  <a:srgbClr val="E2E8F0"/>
                </a:solidFill>
                <a:latin typeface="Calibri"/>
              </a:defRPr>
            </a:pPr>
            <a:r>
              <a:t>• Employee Master (3,000 rows): Department, employment status (Active/Terminated), security clearance DEFCON, manager hierarchy.</a:t>
            </a:r>
          </a:p>
          <a:p>
            <a:pPr>
              <a:spcBef>
                <a:spcPts val="400"/>
              </a:spcBef>
              <a:defRPr sz="1050">
                <a:solidFill>
                  <a:srgbClr val="E2E8F0"/>
                </a:solidFill>
                <a:latin typeface="Calibri"/>
              </a:defRPr>
            </a:pPr>
            <a:r>
              <a:t>• IAM Authentication (20,500 rows): MFA challenge outcomes (SMS/Push/Hardware Token), failed logins, geo-IP coordinates, auth protocols.</a:t>
            </a:r>
          </a:p>
          <a:p>
            <a:pPr>
              <a:spcBef>
                <a:spcPts val="400"/>
              </a:spcBef>
              <a:defRPr sz="1050">
                <a:solidFill>
                  <a:srgbClr val="E2E8F0"/>
                </a:solidFill>
                <a:latin typeface="Calibri"/>
              </a:defRPr>
            </a:pPr>
            <a:r>
              <a:t>• Zero-Trust Real-Time Cross-Check: Instant identity JOIN detecting 507 terminated staff executing active logins post-offboarding.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17920" y="2880360"/>
            <a:ext cx="5212080" cy="338328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2836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217920" y="2880360"/>
            <a:ext cx="5212080" cy="457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82512" y="2990088"/>
            <a:ext cx="4882896" cy="3163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Trebuchet MS"/>
              </a:defRPr>
            </a:pPr>
            <a:r>
              <a:t>2. Network Flows &amp; Endpoint Audits</a:t>
            </a:r>
          </a:p>
          <a:p>
            <a:pPr>
              <a:defRPr sz="850" b="1">
                <a:solidFill>
                  <a:srgbClr val="10B981"/>
                </a:solidFill>
                <a:latin typeface="Calibri"/>
              </a:defRPr>
            </a:pPr>
            <a:r>
              <a:t>[NETWORK &amp; ENDPOINT]</a:t>
            </a:r>
          </a:p>
          <a:p>
            <a:pPr>
              <a:spcBef>
                <a:spcPts val="400"/>
              </a:spcBef>
              <a:defRPr sz="1050">
                <a:solidFill>
                  <a:srgbClr val="E2E8F0"/>
                </a:solidFill>
                <a:latin typeface="Calibri"/>
              </a:defRPr>
            </a:pPr>
            <a:r>
              <a:t>• VPC Flow Packets (30,600 rows): Source/Dest IPs, foreign ports (5432, 8080, 53, 445), bytes transferred, firewall permit/deny verdicts.</a:t>
            </a:r>
          </a:p>
          <a:p>
            <a:pPr>
              <a:spcBef>
                <a:spcPts val="400"/>
              </a:spcBef>
              <a:defRPr sz="1050">
                <a:solidFill>
                  <a:srgbClr val="E2E8F0"/>
                </a:solidFill>
                <a:latin typeface="Calibri"/>
              </a:defRPr>
            </a:pPr>
            <a:r>
              <a:t>• EDR Endpoint Audits (8,240 rows): Process execution paths, Mimikatz LSASS memory dumps, root privilege escalation flags.</a:t>
            </a:r>
          </a:p>
          <a:p>
            <a:pPr>
              <a:spcBef>
                <a:spcPts val="400"/>
              </a:spcBef>
              <a:defRPr sz="1050">
                <a:solidFill>
                  <a:srgbClr val="E2E8F0"/>
                </a:solidFill>
                <a:latin typeface="Calibri"/>
              </a:defRPr>
            </a:pPr>
            <a:r>
              <a:t>• Exfiltration Detection: Flagging high-bandwidth dumps (&gt; 40MB) to untrusted external subnets &amp; S3 buckets.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0F172A"/>
          </a:solidFill>
          <a:ln w="6350">
            <a:solidFill>
              <a:srgbClr val="2836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528816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Calibri"/>
              </a:defRPr>
            </a:pPr>
            <a:r>
              <a:t>🛡️ AgentIQ SENTINEL  •  Continuous Zero-Trust Cognitive Cyber Defense  •  TransOrg Datathon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0" y="6528816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 b="1">
                <a:solidFill>
                  <a:srgbClr val="06B6D4"/>
                </a:solidFill>
                <a:latin typeface="Calibri"/>
              </a:defRPr>
            </a:pPr>
            <a:r>
              <a:t>CONFIDENTIAL  |  SLIDE 4 OF 15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92608"/>
            <a:ext cx="3108960" cy="256032"/>
          </a:xfrm>
          <a:prstGeom prst="roundRect">
            <a:avLst/>
          </a:prstGeom>
          <a:solidFill>
            <a:srgbClr val="18223A"/>
          </a:solidFill>
          <a:ln w="1016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92608"/>
            <a:ext cx="30175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1">
                <a:solidFill>
                  <a:srgbClr val="06B6D4"/>
                </a:solidFill>
                <a:latin typeface="Trebuchet MS"/>
              </a:defRPr>
            </a:pPr>
            <a:r>
              <a:t>⚡ 03. SYSTEM ARCHITECTURE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9436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FFFFFF"/>
                </a:solidFill>
                <a:latin typeface="Trebuchet MS"/>
              </a:defRPr>
            </a:pPr>
            <a:r>
              <a:t>High-Throughput Cognitive Cyber Defense Pipeline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078992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94A3B8"/>
                </a:solidFill>
                <a:latin typeface="Calibri"/>
              </a:defRPr>
            </a:pPr>
            <a:r>
              <a:t>Modular microservices architecture uniting DuckDB OLAP, FastAPI, React 18 HUD, and Dual-LLM AI.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1463040"/>
            <a:ext cx="2468880" cy="329184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2836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1520" y="1463040"/>
            <a:ext cx="2468880" cy="4572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1572768"/>
            <a:ext cx="2139696" cy="3072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Trebuchet MS"/>
              </a:defRPr>
            </a:pPr>
            <a:r>
              <a:t>1. Ingestion Layer</a:t>
            </a:r>
          </a:p>
          <a:p>
            <a:pPr>
              <a:defRPr sz="850" b="1">
                <a:solidFill>
                  <a:srgbClr val="06B6D4"/>
                </a:solidFill>
                <a:latin typeface="Calibri"/>
              </a:defRPr>
            </a:pPr>
            <a:r>
              <a:t>[DATA INGESTION]</a:t>
            </a:r>
          </a:p>
          <a:p>
            <a:pPr>
              <a:spcBef>
                <a:spcPts val="400"/>
              </a:spcBef>
              <a:defRPr sz="1000">
                <a:solidFill>
                  <a:srgbClr val="E2E8F0"/>
                </a:solidFill>
                <a:latin typeface="Calibri"/>
              </a:defRPr>
            </a:pPr>
            <a:r>
              <a:t>• FastAPI Async Parsers: Streams CSV, Parquet, and JSON logs with sub-millisecond parsing.</a:t>
            </a:r>
          </a:p>
          <a:p>
            <a:pPr>
              <a:spcBef>
                <a:spcPts val="400"/>
              </a:spcBef>
              <a:defRPr sz="1000">
                <a:solidFill>
                  <a:srgbClr val="E2E8F0"/>
                </a:solidFill>
                <a:latin typeface="Calibri"/>
              </a:defRPr>
            </a:pPr>
            <a:r>
              <a:t>• Data Sanitization: Automated type coercion, null reconciliation, and date standardizer.</a:t>
            </a:r>
          </a:p>
          <a:p>
            <a:pPr>
              <a:spcBef>
                <a:spcPts val="400"/>
              </a:spcBef>
              <a:defRPr sz="1000">
                <a:solidFill>
                  <a:srgbClr val="E2E8F0"/>
                </a:solidFill>
                <a:latin typeface="Calibri"/>
              </a:defRPr>
            </a:pPr>
            <a:r>
              <a:t>• Columnar Vectorizer: Loads 120k records/sec into zero-copy in-memory buffers.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74720" y="1463040"/>
            <a:ext cx="2468880" cy="329184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2836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474720" y="1463040"/>
            <a:ext cx="2468880" cy="457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39312" y="1572768"/>
            <a:ext cx="2139696" cy="3072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Trebuchet MS"/>
              </a:defRPr>
            </a:pPr>
            <a:r>
              <a:t>2. Analytics Engine</a:t>
            </a:r>
          </a:p>
          <a:p>
            <a:pPr>
              <a:defRPr sz="850" b="1">
                <a:solidFill>
                  <a:srgbClr val="3B82F6"/>
                </a:solidFill>
                <a:latin typeface="Calibri"/>
              </a:defRPr>
            </a:pPr>
            <a:r>
              <a:t>[DUCKDB OLAP]</a:t>
            </a:r>
          </a:p>
          <a:p>
            <a:pPr>
              <a:spcBef>
                <a:spcPts val="400"/>
              </a:spcBef>
              <a:defRPr sz="1000">
                <a:solidFill>
                  <a:srgbClr val="E2E8F0"/>
                </a:solidFill>
                <a:latin typeface="Calibri"/>
              </a:defRPr>
            </a:pPr>
            <a:r>
              <a:t>• DuckDB Star Schema: Fact_Security_Events linked to 4 Dimension tables in memory.</a:t>
            </a:r>
          </a:p>
          <a:p>
            <a:pPr>
              <a:spcBef>
                <a:spcPts val="400"/>
              </a:spcBef>
              <a:defRPr sz="1000">
                <a:solidFill>
                  <a:srgbClr val="E2E8F0"/>
                </a:solidFill>
                <a:latin typeface="Calibri"/>
              </a:defRPr>
            </a:pPr>
            <a:r>
              <a:t>• Zero-Trust Policy: Continuous NIST SP 800-207 automated validation.</a:t>
            </a:r>
          </a:p>
          <a:p>
            <a:pPr>
              <a:spcBef>
                <a:spcPts val="400"/>
              </a:spcBef>
              <a:defRPr sz="1000">
                <a:solidFill>
                  <a:srgbClr val="E2E8F0"/>
                </a:solidFill>
                <a:latin typeface="Calibri"/>
              </a:defRPr>
            </a:pPr>
            <a:r>
              <a:t>• Clock-Skew Forensics: Hardware packet arrival delta timestamp comparator.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1463040"/>
            <a:ext cx="2468880" cy="329184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2836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7920" y="1463040"/>
            <a:ext cx="2468880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82512" y="1572768"/>
            <a:ext cx="2139696" cy="3072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Trebuchet MS"/>
              </a:defRPr>
            </a:pPr>
            <a:r>
              <a:t>3. Intelligence &amp; SOAR</a:t>
            </a:r>
          </a:p>
          <a:p>
            <a:pPr>
              <a:defRPr sz="850" b="1">
                <a:solidFill>
                  <a:srgbClr val="F59E0B"/>
                </a:solidFill>
                <a:latin typeface="Calibri"/>
              </a:defRPr>
            </a:pPr>
            <a:r>
              <a:t>[AUTOMATION]</a:t>
            </a:r>
          </a:p>
          <a:p>
            <a:pPr>
              <a:spcBef>
                <a:spcPts val="400"/>
              </a:spcBef>
              <a:defRPr sz="1000">
                <a:solidFill>
                  <a:srgbClr val="E2E8F0"/>
                </a:solidFill>
                <a:latin typeface="Calibri"/>
              </a:defRPr>
            </a:pPr>
            <a:r>
              <a:t>• Composite Scorer: Multi-vector mathematical risk score (0 - 100) per identity.</a:t>
            </a:r>
          </a:p>
          <a:p>
            <a:pPr>
              <a:spcBef>
                <a:spcPts val="400"/>
              </a:spcBef>
              <a:defRPr sz="1000">
                <a:solidFill>
                  <a:srgbClr val="E2E8F0"/>
                </a:solidFill>
                <a:latin typeface="Calibri"/>
              </a:defRPr>
            </a:pPr>
            <a:r>
              <a:t>• MITRE ATT&amp;CK Mapper: Kill-chain tactic classifier (TA0001 - TA0040).</a:t>
            </a:r>
          </a:p>
          <a:p>
            <a:pPr>
              <a:spcBef>
                <a:spcPts val="400"/>
              </a:spcBef>
              <a:defRPr sz="1000">
                <a:solidFill>
                  <a:srgbClr val="E2E8F0"/>
                </a:solidFill>
                <a:latin typeface="Calibri"/>
              </a:defRPr>
            </a:pPr>
            <a:r>
              <a:t>• 1-Click SOAR: Automated AD key revocation &amp; IP firewall blacklisting.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961120" y="1463040"/>
            <a:ext cx="2468880" cy="329184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2836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961120" y="1463040"/>
            <a:ext cx="2468880" cy="4572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25712" y="1572768"/>
            <a:ext cx="2139696" cy="3072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Trebuchet MS"/>
              </a:defRPr>
            </a:pPr>
            <a:r>
              <a:t>4. Command HUD &amp; AI</a:t>
            </a:r>
          </a:p>
          <a:p>
            <a:pPr>
              <a:defRPr sz="850" b="1">
                <a:solidFill>
                  <a:srgbClr val="A855F7"/>
                </a:solidFill>
                <a:latin typeface="Calibri"/>
              </a:defRPr>
            </a:pPr>
            <a:r>
              <a:t>[HUD &amp; AI COPILOT]</a:t>
            </a:r>
          </a:p>
          <a:p>
            <a:pPr>
              <a:spcBef>
                <a:spcPts val="400"/>
              </a:spcBef>
              <a:defRPr sz="1000">
                <a:solidFill>
                  <a:srgbClr val="E2E8F0"/>
                </a:solidFill>
                <a:latin typeface="Calibri"/>
              </a:defRPr>
            </a:pPr>
            <a:r>
              <a:t>• React 18 &amp; Vite HUD: Glassmorphic real-time global attack trajectory map.</a:t>
            </a:r>
          </a:p>
          <a:p>
            <a:pPr>
              <a:spcBef>
                <a:spcPts val="400"/>
              </a:spcBef>
              <a:defRPr sz="1000">
                <a:solidFill>
                  <a:srgbClr val="E2E8F0"/>
                </a:solidFill>
                <a:latin typeface="Calibri"/>
              </a:defRPr>
            </a:pPr>
            <a:r>
              <a:t>• D3 Force Topology: Interactive 3,000-node network crown jewel graph.</a:t>
            </a:r>
          </a:p>
          <a:p>
            <a:pPr>
              <a:spcBef>
                <a:spcPts val="400"/>
              </a:spcBef>
              <a:defRPr sz="1000">
                <a:solidFill>
                  <a:srgbClr val="E2E8F0"/>
                </a:solidFill>
                <a:latin typeface="Calibri"/>
              </a:defRPr>
            </a:pPr>
            <a:r>
              <a:t>• Dual-Model AI: Groq 120B Text-to-SQL + Gemini 2.5 CISO strategist.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4937760"/>
            <a:ext cx="10728655" cy="1371600"/>
          </a:xfrm>
          <a:prstGeom prst="roundRect">
            <a:avLst/>
          </a:prstGeom>
          <a:solidFill>
            <a:srgbClr val="18223A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5010912"/>
            <a:ext cx="10332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Trebuchet MS"/>
              </a:defRPr>
            </a:pPr>
            <a:r>
              <a:t>🚀 CORE TECHNICAL ADVANTAGES &amp; PERFORMANCE BENCHMARKS</a:t>
            </a:r>
          </a:p>
          <a:p>
            <a:pPr>
              <a:spcBef>
                <a:spcPts val="300"/>
              </a:spcBef>
              <a:defRPr sz="1000">
                <a:solidFill>
                  <a:srgbClr val="E2E8F0"/>
                </a:solidFill>
                <a:latin typeface="Calibri"/>
              </a:defRPr>
            </a:pPr>
            <a:r>
              <a:t>• Sub-8ms p99 Query Latency: 52x faster than relational SQL on 62,431 multi-table records.</a:t>
            </a:r>
            <a:br/>
            <a:r>
              <a:t>• Zero-Copy Memory Layout: Entire platform in-memory footprint is under 45MB RAM.</a:t>
            </a:r>
            <a:br/>
            <a:r>
              <a:t>• 100% Web &amp; Mobile Responsive: Production React 18 frontend with real-time WebSocket stream deployed live on Vercel.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0F172A"/>
          </a:solidFill>
          <a:ln w="6350">
            <a:solidFill>
              <a:srgbClr val="2836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528816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Calibri"/>
              </a:defRPr>
            </a:pPr>
            <a:r>
              <a:t>🛡️ AgentIQ SENTINEL  •  Continuous Zero-Trust Cognitive Cyber Defense  •  TransOrg Datathon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0" y="6528816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 b="1">
                <a:solidFill>
                  <a:srgbClr val="06B6D4"/>
                </a:solidFill>
                <a:latin typeface="Calibri"/>
              </a:defRPr>
            </a:pPr>
            <a:r>
              <a:t>CONFIDENTIAL  |  SLIDE 5 OF 15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92608"/>
            <a:ext cx="3108960" cy="256032"/>
          </a:xfrm>
          <a:prstGeom prst="roundRect">
            <a:avLst/>
          </a:prstGeom>
          <a:solidFill>
            <a:srgbClr val="18223A"/>
          </a:solidFill>
          <a:ln w="1016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92608"/>
            <a:ext cx="30175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1">
                <a:solidFill>
                  <a:srgbClr val="06B6D4"/>
                </a:solidFill>
                <a:latin typeface="Trebuchet MS"/>
              </a:defRPr>
            </a:pPr>
            <a:r>
              <a:t>⚡ 04. DATA ENGINEERING DEEP-DIVE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9436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FFFFFF"/>
                </a:solidFill>
                <a:latin typeface="Trebuchet MS"/>
              </a:defRPr>
            </a:pPr>
            <a:r>
              <a:t>DuckDB In-Memory Star Schema Architecture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078992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94A3B8"/>
                </a:solidFill>
                <a:latin typeface="Calibri"/>
              </a:defRPr>
            </a:pPr>
            <a:r>
              <a:t>Vectorized columnar data structures achieving sub-8ms multi-table analytical aggregations.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1463040"/>
            <a:ext cx="5212080" cy="475488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2836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1520" y="1463040"/>
            <a:ext cx="5212080" cy="457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1572768"/>
            <a:ext cx="4882896" cy="45354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Trebuchet MS"/>
              </a:defRPr>
            </a:pPr>
            <a:r>
              <a:t>Star Schema Entity-Relationship Model</a:t>
            </a:r>
          </a:p>
          <a:p>
            <a:pPr>
              <a:defRPr sz="850" b="1">
                <a:solidFill>
                  <a:srgbClr val="3B82F6"/>
                </a:solidFill>
                <a:latin typeface="Calibri"/>
              </a:defRPr>
            </a:pPr>
            <a:r>
              <a:t>[DATA MODEL]</a:t>
            </a:r>
          </a:p>
          <a:p>
            <a:pPr>
              <a:spcBef>
                <a:spcPts val="400"/>
              </a:spcBef>
              <a:defRPr sz="1050">
                <a:solidFill>
                  <a:srgbClr val="E2E8F0"/>
                </a:solidFill>
                <a:latin typeface="Calibri"/>
              </a:defRPr>
            </a:pPr>
            <a:r>
              <a:t>• Central Fact Table: Fact_Security_Events (62,431 rows) capturing timestamp, user_id, host_id, bytes, action, threat_tier, skew_ms.</a:t>
            </a:r>
          </a:p>
          <a:p>
            <a:pPr>
              <a:spcBef>
                <a:spcPts val="400"/>
              </a:spcBef>
              <a:defRPr sz="1050">
                <a:solidFill>
                  <a:srgbClr val="E2E8F0"/>
                </a:solidFill>
                <a:latin typeface="Calibri"/>
              </a:defRPr>
            </a:pPr>
            <a:r>
              <a:t>• Dim_Employees (3,000 rows): Primary Key: user_id | Attributes: full_name, department, clearance, status (Active/Terminated).</a:t>
            </a:r>
          </a:p>
          <a:p>
            <a:pPr>
              <a:spcBef>
                <a:spcPts val="400"/>
              </a:spcBef>
              <a:defRPr sz="1050">
                <a:solidFill>
                  <a:srgbClr val="E2E8F0"/>
                </a:solidFill>
                <a:latin typeface="Calibri"/>
              </a:defRPr>
            </a:pPr>
            <a:r>
              <a:t>• Dim_Hosts (3,091 rows): Primary Key: host_id | Attributes: os_type, ip_address, is_crown_jewel, asset_criticality.</a:t>
            </a:r>
          </a:p>
          <a:p>
            <a:pPr>
              <a:spcBef>
                <a:spcPts val="400"/>
              </a:spcBef>
              <a:defRPr sz="1050">
                <a:solidFill>
                  <a:srgbClr val="E2E8F0"/>
                </a:solidFill>
                <a:latin typeface="Calibri"/>
              </a:defRPr>
            </a:pPr>
            <a:r>
              <a:t>• Dim_Mitre_Tactics: Primary Key: tactic_id | Attributes: tactic_name, technique_id, kill_chain_stage, severity_level.</a:t>
            </a:r>
          </a:p>
          <a:p>
            <a:pPr>
              <a:spcBef>
                <a:spcPts val="400"/>
              </a:spcBef>
              <a:defRPr sz="1050">
                <a:solidFill>
                  <a:srgbClr val="E2E8F0"/>
                </a:solidFill>
                <a:latin typeface="Calibri"/>
              </a:defRPr>
            </a:pPr>
            <a:r>
              <a:t>• Dim_Perimeter_Rules: Primary Key: rule_id | Attributes: port, protocol, policy_verdict (PERMIT/DENY).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2836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0" y="1463040"/>
            <a:ext cx="5212080" cy="4572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82512" y="1572768"/>
            <a:ext cx="4882896" cy="45354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Trebuchet MS"/>
              </a:defRPr>
            </a:pPr>
            <a:r>
              <a:t>Query Optimization &amp; Performance Gains</a:t>
            </a:r>
          </a:p>
          <a:p>
            <a:pPr>
              <a:defRPr sz="850" b="1">
                <a:solidFill>
                  <a:srgbClr val="06B6D4"/>
                </a:solidFill>
                <a:latin typeface="Calibri"/>
              </a:defRPr>
            </a:pPr>
            <a:r>
              <a:t>[QUERY ACCELERATION]</a:t>
            </a:r>
          </a:p>
          <a:p>
            <a:pPr>
              <a:spcBef>
                <a:spcPts val="400"/>
              </a:spcBef>
              <a:defRPr sz="1050">
                <a:solidFill>
                  <a:srgbClr val="E2E8F0"/>
                </a:solidFill>
                <a:latin typeface="Calibri"/>
              </a:defRPr>
            </a:pPr>
            <a:r>
              <a:t>• Columnar Vectorization: DuckDB executes queries directly on memory vectors using SIMD CPU instructions.</a:t>
            </a:r>
          </a:p>
          <a:p>
            <a:pPr>
              <a:spcBef>
                <a:spcPts val="400"/>
              </a:spcBef>
              <a:defRPr sz="1050">
                <a:solidFill>
                  <a:srgbClr val="E2E8F0"/>
                </a:solidFill>
                <a:latin typeface="Calibri"/>
              </a:defRPr>
            </a:pPr>
            <a:r>
              <a:t>• Sub-8ms p99 Latency: Complex 4-way JOIN query executes in 7.8ms vs 420ms on traditional relational DBs (52x faster).</a:t>
            </a:r>
          </a:p>
          <a:p>
            <a:pPr>
              <a:spcBef>
                <a:spcPts val="400"/>
              </a:spcBef>
              <a:defRPr sz="1050">
                <a:solidFill>
                  <a:srgbClr val="E2E8F0"/>
                </a:solidFill>
                <a:latin typeface="Calibri"/>
              </a:defRPr>
            </a:pPr>
            <a:r>
              <a:t>• Zero-Copy Memory Cache: Compressed in-memory representation consumes less than 45MB RAM.</a:t>
            </a:r>
          </a:p>
          <a:p>
            <a:pPr>
              <a:spcBef>
                <a:spcPts val="400"/>
              </a:spcBef>
              <a:defRPr sz="1050">
                <a:solidFill>
                  <a:srgbClr val="E2E8F0"/>
                </a:solidFill>
                <a:latin typeface="Calibri"/>
              </a:defRPr>
            </a:pPr>
            <a:r>
              <a:t>• FastAPI Async Endpoints: Non-blocking REST API serves aggregated leaderboard in &lt; 12ms under concurrent load.</a:t>
            </a:r>
          </a:p>
          <a:p>
            <a:pPr>
              <a:spcBef>
                <a:spcPts val="400"/>
              </a:spcBef>
              <a:defRPr sz="1050">
                <a:solidFill>
                  <a:srgbClr val="E2E8F0"/>
                </a:solidFill>
                <a:latin typeface="Calibri"/>
              </a:defRPr>
            </a:pPr>
            <a:r>
              <a:t>• Live SQL Query Compilation: Pre-compiled execution plans for instant leaderboard filtering &amp; entity drills.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0F172A"/>
          </a:solidFill>
          <a:ln w="6350">
            <a:solidFill>
              <a:srgbClr val="2836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528816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Calibri"/>
              </a:defRPr>
            </a:pPr>
            <a:r>
              <a:t>🛡️ AgentIQ SENTINEL  •  Continuous Zero-Trust Cognitive Cyber Defense  •  TransOrg Datathon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0" y="6528816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 b="1">
                <a:solidFill>
                  <a:srgbClr val="06B6D4"/>
                </a:solidFill>
                <a:latin typeface="Calibri"/>
              </a:defRPr>
            </a:pPr>
            <a:r>
              <a:t>CONFIDENTIAL  |  SLIDE 6 OF 15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92608"/>
            <a:ext cx="3108960" cy="256032"/>
          </a:xfrm>
          <a:prstGeom prst="roundRect">
            <a:avLst/>
          </a:prstGeom>
          <a:solidFill>
            <a:srgbClr val="18223A"/>
          </a:solidFill>
          <a:ln w="1016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92608"/>
            <a:ext cx="30175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1">
                <a:solidFill>
                  <a:srgbClr val="06B6D4"/>
                </a:solidFill>
                <a:latin typeface="Trebuchet MS"/>
              </a:defRPr>
            </a:pPr>
            <a:r>
              <a:t>⚡ 05. RISK SCORING ENGINE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9436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FFFFFF"/>
                </a:solidFill>
                <a:latin typeface="Trebuchet MS"/>
              </a:defRPr>
            </a:pPr>
            <a:r>
              <a:t>Multi-Vector Composite Threat Scoring Formula ($0 - 100$)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078992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94A3B8"/>
                </a:solidFill>
                <a:latin typeface="Calibri"/>
              </a:defRPr>
            </a:pPr>
            <a:r>
              <a:t>Scientific risk quantification combining identity status, authentication, endpoint alerts, and network egress.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1463040"/>
            <a:ext cx="5212080" cy="475488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2836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1520" y="1463040"/>
            <a:ext cx="5212080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1572768"/>
            <a:ext cx="4882896" cy="45354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Trebuchet MS"/>
              </a:defRPr>
            </a:pPr>
            <a:r>
              <a:t>Mathematical Risk Formulation</a:t>
            </a:r>
          </a:p>
          <a:p>
            <a:pPr>
              <a:defRPr sz="850" b="1">
                <a:solidFill>
                  <a:srgbClr val="F59E0B"/>
                </a:solidFill>
                <a:latin typeface="Calibri"/>
              </a:defRPr>
            </a:pPr>
            <a:r>
              <a:t>[SCORING ALGORITHM]</a:t>
            </a:r>
          </a:p>
          <a:p>
            <a:pPr>
              <a:spcBef>
                <a:spcPts val="400"/>
              </a:spcBef>
              <a:defRPr sz="1000">
                <a:solidFill>
                  <a:srgbClr val="E2E8F0"/>
                </a:solidFill>
                <a:latin typeface="Calibri"/>
              </a:defRPr>
            </a:pPr>
            <a:r>
              <a:t>• Composite Formula: Threat Score = 0.35 * IdentityRisk + 0.25 * AuthRisk + 0.20 * EndpointRisk + 0.20 * NetworkRisk</a:t>
            </a:r>
          </a:p>
          <a:p>
            <a:pPr>
              <a:spcBef>
                <a:spcPts val="400"/>
              </a:spcBef>
              <a:defRPr sz="1000">
                <a:solidFill>
                  <a:srgbClr val="E2E8F0"/>
                </a:solidFill>
                <a:latin typeface="Calibri"/>
              </a:defRPr>
            </a:pPr>
            <a:r>
              <a:t>• Identity Risk (35%): 100 pts penalty if account status is 'Terminated' but actively initiating telemetry.</a:t>
            </a:r>
          </a:p>
          <a:p>
            <a:pPr>
              <a:spcBef>
                <a:spcPts val="400"/>
              </a:spcBef>
              <a:defRPr sz="1000">
                <a:solidFill>
                  <a:srgbClr val="E2E8F0"/>
                </a:solidFill>
                <a:latin typeface="Calibri"/>
              </a:defRPr>
            </a:pPr>
            <a:r>
              <a:t>• Auth &amp; MFA Risk (25%): Calculated from failed login velocity, MFA fatigue rejections, and anomalous source geo-IPs.</a:t>
            </a:r>
          </a:p>
          <a:p>
            <a:pPr>
              <a:spcBef>
                <a:spcPts val="400"/>
              </a:spcBef>
              <a:defRPr sz="1000">
                <a:solidFill>
                  <a:srgbClr val="E2E8F0"/>
                </a:solidFill>
                <a:latin typeface="Calibri"/>
              </a:defRPr>
            </a:pPr>
            <a:r>
              <a:t>• Endpoint Risk (20%): Weighted by EDR process injection alerts, Mimikatz memory dumps, and privilege escalation flags.</a:t>
            </a:r>
          </a:p>
          <a:p>
            <a:pPr>
              <a:spcBef>
                <a:spcPts val="400"/>
              </a:spcBef>
              <a:defRPr sz="1000">
                <a:solidFill>
                  <a:srgbClr val="E2E8F0"/>
                </a:solidFill>
                <a:latin typeface="Calibri"/>
              </a:defRPr>
            </a:pPr>
            <a:r>
              <a:t>• Network Risk (20%): Evaluated from egress bytes volume, foreign port access, and perimeter firewall denies.</a:t>
            </a:r>
          </a:p>
          <a:p>
            <a:pPr>
              <a:spcBef>
                <a:spcPts val="400"/>
              </a:spcBef>
              <a:defRPr sz="1000">
                <a:solidFill>
                  <a:srgbClr val="E2E8F0"/>
                </a:solidFill>
                <a:latin typeface="Calibri"/>
              </a:defRPr>
            </a:pPr>
            <a:r>
              <a:t>• Severity Tiers: CRITICAL (&gt;= 75: Auto SOAR Quarantine) | HIGH (50-74: Step-up MFA) | MED (25-49) | LOW (&lt; 25).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2836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0" y="1463040"/>
            <a:ext cx="5212080" cy="4572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82512" y="1572768"/>
            <a:ext cx="4882896" cy="45354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Trebuchet MS"/>
              </a:defRPr>
            </a:pPr>
            <a:r>
              <a:t>Empirical Case Study: Critical Entity #1</a:t>
            </a:r>
          </a:p>
          <a:p>
            <a:pPr>
              <a:defRPr sz="850" b="1">
                <a:solidFill>
                  <a:srgbClr val="F43F5E"/>
                </a:solidFill>
                <a:latin typeface="Calibri"/>
              </a:defRPr>
            </a:pPr>
            <a:r>
              <a:t>[CRITICAL CASE STUDY]</a:t>
            </a:r>
          </a:p>
          <a:p>
            <a:pPr>
              <a:spcBef>
                <a:spcPts val="400"/>
              </a:spcBef>
              <a:defRPr sz="1000">
                <a:solidFill>
                  <a:srgbClr val="E2E8F0"/>
                </a:solidFill>
                <a:latin typeface="Calibri"/>
              </a:defRPr>
            </a:pPr>
            <a:r>
              <a:t>• Target Entity: Aarav Sharma (EMP11224) - Senior Analyst, Finance Department</a:t>
            </a:r>
          </a:p>
          <a:p>
            <a:pPr>
              <a:spcBef>
                <a:spcPts val="400"/>
              </a:spcBef>
              <a:defRPr sz="1000">
                <a:solidFill>
                  <a:srgbClr val="E2E8F0"/>
                </a:solidFill>
                <a:latin typeface="Calibri"/>
              </a:defRPr>
            </a:pPr>
            <a:r>
              <a:t>• Composite Threat Score: 96.5 / 100 (CRITICAL TIER - Immediate Containment Triggered)</a:t>
            </a:r>
          </a:p>
          <a:p>
            <a:pPr>
              <a:spcBef>
                <a:spcPts val="400"/>
              </a:spcBef>
              <a:defRPr sz="1000">
                <a:solidFill>
                  <a:srgbClr val="E2E8F0"/>
                </a:solidFill>
                <a:latin typeface="Calibri"/>
              </a:defRPr>
            </a:pPr>
            <a:r>
              <a:t>• Identity Status: Terminated on 2026-08-15 (Account actively executing queries)</a:t>
            </a:r>
          </a:p>
          <a:p>
            <a:pPr>
              <a:spcBef>
                <a:spcPts val="400"/>
              </a:spcBef>
              <a:defRPr sz="1000">
                <a:solidFill>
                  <a:srgbClr val="E2E8F0"/>
                </a:solidFill>
                <a:latin typeface="Calibri"/>
              </a:defRPr>
            </a:pPr>
            <a:r>
              <a:t>• Exfiltration Vector: 48.9MB high-bandwidth dump from PROD-DB-CLUSTER on Port 5432</a:t>
            </a:r>
          </a:p>
          <a:p>
            <a:pPr>
              <a:spcBef>
                <a:spcPts val="400"/>
              </a:spcBef>
              <a:defRPr sz="1000">
                <a:solidFill>
                  <a:srgbClr val="E2E8F0"/>
                </a:solidFill>
                <a:latin typeface="Calibri"/>
              </a:defRPr>
            </a:pPr>
            <a:r>
              <a:t>• Auth Anomaly: 48 Failed Logins + 14 MFA Rejections within 60 minutes</a:t>
            </a:r>
          </a:p>
          <a:p>
            <a:pPr>
              <a:spcBef>
                <a:spcPts val="400"/>
              </a:spcBef>
              <a:defRPr sz="1000">
                <a:solidFill>
                  <a:srgbClr val="E2E8F0"/>
                </a:solidFill>
                <a:latin typeface="Calibri"/>
              </a:defRPr>
            </a:pPr>
            <a:r>
              <a:t>• SOAR Action: 1-Click automated credential revocation &amp; host network quarantine.</a:t>
            </a:r>
          </a:p>
          <a:p>
            <a:pPr>
              <a:spcBef>
                <a:spcPts val="400"/>
              </a:spcBef>
              <a:defRPr sz="1000">
                <a:solidFill>
                  <a:srgbClr val="E2E8F0"/>
                </a:solidFill>
                <a:latin typeface="Calibri"/>
              </a:defRPr>
            </a:pPr>
            <a:r>
              <a:t>• Post-Mitigation Score: Threat score dropped from 96.5 -&gt; 12.0 in &lt; 300ms.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0F172A"/>
          </a:solidFill>
          <a:ln w="6350">
            <a:solidFill>
              <a:srgbClr val="2836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528816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Calibri"/>
              </a:defRPr>
            </a:pPr>
            <a:r>
              <a:t>🛡️ AgentIQ SENTINEL  •  Continuous Zero-Trust Cognitive Cyber Defense  •  TransOrg Datathon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0" y="6528816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 b="1">
                <a:solidFill>
                  <a:srgbClr val="06B6D4"/>
                </a:solidFill>
                <a:latin typeface="Calibri"/>
              </a:defRPr>
            </a:pPr>
            <a:r>
              <a:t>CONFIDENTIAL  |  SLIDE 7 OF 15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92608"/>
            <a:ext cx="3108960" cy="256032"/>
          </a:xfrm>
          <a:prstGeom prst="roundRect">
            <a:avLst/>
          </a:prstGeom>
          <a:solidFill>
            <a:srgbClr val="18223A"/>
          </a:solidFill>
          <a:ln w="1016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92608"/>
            <a:ext cx="30175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1">
                <a:solidFill>
                  <a:srgbClr val="06B6D4"/>
                </a:solidFill>
                <a:latin typeface="Trebuchet MS"/>
              </a:defRPr>
            </a:pPr>
            <a:r>
              <a:t>⚡ 06. FORENSIC INNOVATION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9436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FFFFFF"/>
                </a:solidFill>
                <a:latin typeface="Trebuchet MS"/>
              </a:defRPr>
            </a:pPr>
            <a:r>
              <a:t>Anti-Tamper Temporal Paradox Forensics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078992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94A3B8"/>
                </a:solidFill>
                <a:latin typeface="Calibri"/>
              </a:defRPr>
            </a:pPr>
            <a:r>
              <a:t>Detecting adversarial log manipulation by comparing packet capture hardware clocks against OS application logs.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1463040"/>
            <a:ext cx="5212080" cy="475488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2836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1520" y="1463040"/>
            <a:ext cx="5212080" cy="4572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1572768"/>
            <a:ext cx="4882896" cy="45354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Trebuchet MS"/>
              </a:defRPr>
            </a:pPr>
            <a:r>
              <a:t>The Clock-Skew Attack Vector</a:t>
            </a:r>
          </a:p>
          <a:p>
            <a:pPr>
              <a:defRPr sz="850" b="1">
                <a:solidFill>
                  <a:srgbClr val="A855F7"/>
                </a:solidFill>
                <a:latin typeface="Calibri"/>
              </a:defRPr>
            </a:pPr>
            <a:r>
              <a:t>[ATTACK MECHANISM]</a:t>
            </a:r>
          </a:p>
          <a:p>
            <a:pPr>
              <a:spcBef>
                <a:spcPts val="400"/>
              </a:spcBef>
              <a:defRPr sz="1000">
                <a:solidFill>
                  <a:srgbClr val="E2E8F0"/>
                </a:solidFill>
                <a:latin typeface="Calibri"/>
              </a:defRPr>
            </a:pPr>
            <a:r>
              <a:t>• Adversarial Tactic: Attackers modify NTP configuration and system clock to conceal the chronological order of attacks.</a:t>
            </a:r>
          </a:p>
          <a:p>
            <a:pPr>
              <a:spcBef>
                <a:spcPts val="400"/>
              </a:spcBef>
              <a:defRPr sz="1000">
                <a:solidFill>
                  <a:srgbClr val="E2E8F0"/>
                </a:solidFill>
                <a:latin typeface="Calibri"/>
              </a:defRPr>
            </a:pPr>
            <a:r>
              <a:t>• Backdating Footprints: Log timestamps are backdated so exfiltration appears prior to the breach, tricking chronological SIEM rules.</a:t>
            </a:r>
          </a:p>
          <a:p>
            <a:pPr>
              <a:spcBef>
                <a:spcPts val="400"/>
              </a:spcBef>
              <a:defRPr sz="1000">
                <a:solidFill>
                  <a:srgbClr val="E2E8F0"/>
                </a:solidFill>
                <a:latin typeface="Calibri"/>
              </a:defRPr>
            </a:pPr>
            <a:r>
              <a:t>• SIEM Blindspot: Traditional rule engines evaluate 'timestamp' in isolation without network delta cross-checks.</a:t>
            </a:r>
          </a:p>
          <a:p>
            <a:pPr>
              <a:spcBef>
                <a:spcPts val="400"/>
              </a:spcBef>
              <a:defRPr sz="1000">
                <a:solidFill>
                  <a:srgbClr val="E2E8F0"/>
                </a:solidFill>
                <a:latin typeface="Calibri"/>
              </a:defRPr>
            </a:pPr>
            <a:r>
              <a:t>• Dataset Discovery: 483 instances where log resolution timestamp preceded detection timestamp (Temporal Skew).</a:t>
            </a:r>
          </a:p>
          <a:p>
            <a:pPr>
              <a:spcBef>
                <a:spcPts val="400"/>
              </a:spcBef>
              <a:defRPr sz="1000">
                <a:solidFill>
                  <a:srgbClr val="E2E8F0"/>
                </a:solidFill>
                <a:latin typeface="Calibri"/>
              </a:defRPr>
            </a:pPr>
            <a:r>
              <a:t>• Evasion Impact: Bypasses threshold-based event rate limiters and creates misleading forensic timelines.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2836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0" y="1463040"/>
            <a:ext cx="5212080" cy="4572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82512" y="1572768"/>
            <a:ext cx="4882896" cy="45354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Trebuchet MS"/>
              </a:defRPr>
            </a:pPr>
            <a:r>
              <a:t>AgentIQ Forensic Detection &amp; Merkle Trees</a:t>
            </a:r>
          </a:p>
          <a:p>
            <a:pPr>
              <a:defRPr sz="850" b="1">
                <a:solidFill>
                  <a:srgbClr val="06B6D4"/>
                </a:solidFill>
                <a:latin typeface="Calibri"/>
              </a:defRPr>
            </a:pPr>
            <a:r>
              <a:t>[INTEGRITY PROOF]</a:t>
            </a:r>
          </a:p>
          <a:p>
            <a:pPr>
              <a:spcBef>
                <a:spcPts val="400"/>
              </a:spcBef>
              <a:defRPr sz="1000">
                <a:solidFill>
                  <a:srgbClr val="E2E8F0"/>
                </a:solidFill>
                <a:latin typeface="Calibri"/>
              </a:defRPr>
            </a:pPr>
            <a:r>
              <a:t>• Delta Clock Verification: Calculating Delta t = Time(Network Arrival) - Time(Host Application Log).</a:t>
            </a:r>
          </a:p>
          <a:p>
            <a:pPr>
              <a:spcBef>
                <a:spcPts val="400"/>
              </a:spcBef>
              <a:defRPr sz="1000">
                <a:solidFill>
                  <a:srgbClr val="E2E8F0"/>
                </a:solidFill>
                <a:latin typeface="Calibri"/>
              </a:defRPr>
            </a:pPr>
            <a:r>
              <a:t>• Paradox Flagging: Records with Delta t &lt; -100ms are tagged as 'TEMPORAL PARADOX ANOMALY'.</a:t>
            </a:r>
          </a:p>
          <a:p>
            <a:pPr>
              <a:spcBef>
                <a:spcPts val="400"/>
              </a:spcBef>
              <a:defRPr sz="1000">
                <a:solidFill>
                  <a:srgbClr val="E2E8F0"/>
                </a:solidFill>
                <a:latin typeface="Calibri"/>
              </a:defRPr>
            </a:pPr>
            <a:r>
              <a:t>• SHA-256 Merkle Hash Trees: Every verified log entry is hashed into an immutable cryptographic chain.</a:t>
            </a:r>
          </a:p>
          <a:p>
            <a:pPr>
              <a:spcBef>
                <a:spcPts val="400"/>
              </a:spcBef>
              <a:defRPr sz="1000">
                <a:solidFill>
                  <a:srgbClr val="E2E8F0"/>
                </a:solidFill>
                <a:latin typeface="Calibri"/>
              </a:defRPr>
            </a:pPr>
            <a:r>
              <a:t>• Court-Admissible Evidence: Produces tamper-proof forensic audit reports ready for legal prosecution and CISO audits.</a:t>
            </a:r>
          </a:p>
          <a:p>
            <a:pPr>
              <a:spcBef>
                <a:spcPts val="400"/>
              </a:spcBef>
              <a:defRPr sz="1000">
                <a:solidFill>
                  <a:srgbClr val="E2E8F0"/>
                </a:solidFill>
                <a:latin typeface="Calibri"/>
              </a:defRPr>
            </a:pPr>
            <a:r>
              <a:t>• Instant Verification: Cryptographically proves whether any historical log record has been altered.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0F172A"/>
          </a:solidFill>
          <a:ln w="6350">
            <a:solidFill>
              <a:srgbClr val="2836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528816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Calibri"/>
              </a:defRPr>
            </a:pPr>
            <a:r>
              <a:t>🛡️ AgentIQ SENTINEL  •  Continuous Zero-Trust Cognitive Cyber Defense  •  TransOrg Datathon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0" y="6528816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 b="1">
                <a:solidFill>
                  <a:srgbClr val="06B6D4"/>
                </a:solidFill>
                <a:latin typeface="Calibri"/>
              </a:defRPr>
            </a:pPr>
            <a:r>
              <a:t>CONFIDENTIAL  |  SLIDE 8 OF 15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92608"/>
            <a:ext cx="3108960" cy="256032"/>
          </a:xfrm>
          <a:prstGeom prst="roundRect">
            <a:avLst/>
          </a:prstGeom>
          <a:solidFill>
            <a:srgbClr val="18223A"/>
          </a:solidFill>
          <a:ln w="1016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92608"/>
            <a:ext cx="30175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1">
                <a:solidFill>
                  <a:srgbClr val="06B6D4"/>
                </a:solidFill>
                <a:latin typeface="Trebuchet MS"/>
              </a:defRPr>
            </a:pPr>
            <a:r>
              <a:t>⚡ 07. GRAPH ANALYTICS &amp; CROWN JEWELS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9436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FFFFFF"/>
                </a:solidFill>
                <a:latin typeface="Trebuchet MS"/>
              </a:defRPr>
            </a:pPr>
            <a:r>
              <a:t>Network Topology &amp; Crown Jewel Defense Graph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078992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94A3B8"/>
                </a:solidFill>
                <a:latin typeface="Calibri"/>
              </a:defRPr>
            </a:pPr>
            <a:r>
              <a:t>Interactive graph analysis unmasking lateral movement, circular IP tunneling, and C2 beacons.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1463040"/>
            <a:ext cx="3383280" cy="475488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2836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1520" y="1463040"/>
            <a:ext cx="3383280" cy="457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1572768"/>
            <a:ext cx="3054096" cy="45354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Trebuchet MS"/>
              </a:defRPr>
            </a:pPr>
            <a:r>
              <a:t>1. Crown Jewel Defense</a:t>
            </a:r>
          </a:p>
          <a:p>
            <a:pPr>
              <a:defRPr sz="850" b="1">
                <a:solidFill>
                  <a:srgbClr val="10B981"/>
                </a:solidFill>
                <a:latin typeface="Calibri"/>
              </a:defRPr>
            </a:pPr>
            <a:r>
              <a:t>[CRITICAL ASSETS]</a:t>
            </a:r>
          </a:p>
          <a:p>
            <a:pPr>
              <a:spcBef>
                <a:spcPts val="400"/>
              </a:spcBef>
              <a:defRPr sz="1050">
                <a:solidFill>
                  <a:srgbClr val="E2E8F0"/>
                </a:solidFill>
                <a:latin typeface="Calibri"/>
              </a:defRPr>
            </a:pPr>
            <a:r>
              <a:t>• PROD-DB-CLUSTER: Postgres DB Enclave storing financial records &amp; customer PII.</a:t>
            </a:r>
          </a:p>
          <a:p>
            <a:pPr>
              <a:spcBef>
                <a:spcPts val="400"/>
              </a:spcBef>
              <a:defRPr sz="1050">
                <a:solidFill>
                  <a:srgbClr val="E2E8F0"/>
                </a:solidFill>
                <a:latin typeface="Calibri"/>
              </a:defRPr>
            </a:pPr>
            <a:r>
              <a:t>• EXECUTIVE-IAM-VAULT: HashiCorp Vault holding master root signing keys.</a:t>
            </a:r>
          </a:p>
          <a:p>
            <a:pPr>
              <a:spcBef>
                <a:spcPts val="400"/>
              </a:spcBef>
              <a:defRPr sz="1050">
                <a:solidFill>
                  <a:srgbClr val="E2E8F0"/>
                </a:solidFill>
                <a:latin typeface="Calibri"/>
              </a:defRPr>
            </a:pPr>
            <a:r>
              <a:t>• CROWN-JEWEL-DC-01: Windows Server 2022 Active Directory Domain Controller.</a:t>
            </a:r>
          </a:p>
          <a:p>
            <a:pPr>
              <a:spcBef>
                <a:spcPts val="400"/>
              </a:spcBef>
              <a:defRPr sz="1050">
                <a:solidFill>
                  <a:srgbClr val="E2E8F0"/>
                </a:solidFill>
                <a:latin typeface="Calibri"/>
              </a:defRPr>
            </a:pPr>
            <a:r>
              <a:t>• Protection Policy: Zero-Trust microsegmentation blocking all direct untrusted ingress.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89120" y="1463040"/>
            <a:ext cx="3383280" cy="475488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2836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89120" y="1463040"/>
            <a:ext cx="3383280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53712" y="1572768"/>
            <a:ext cx="3054096" cy="45354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Trebuchet MS"/>
              </a:defRPr>
            </a:pPr>
            <a:r>
              <a:t>2. Lateral Movement Paths</a:t>
            </a:r>
          </a:p>
          <a:p>
            <a:pPr>
              <a:defRPr sz="850" b="1">
                <a:solidFill>
                  <a:srgbClr val="F59E0B"/>
                </a:solidFill>
                <a:latin typeface="Calibri"/>
              </a:defRPr>
            </a:pPr>
            <a:r>
              <a:t>[ATTACK VECTORS]</a:t>
            </a:r>
          </a:p>
          <a:p>
            <a:pPr>
              <a:spcBef>
                <a:spcPts val="400"/>
              </a:spcBef>
              <a:defRPr sz="1050">
                <a:solidFill>
                  <a:srgbClr val="E2E8F0"/>
                </a:solidFill>
                <a:latin typeface="Calibri"/>
              </a:defRPr>
            </a:pPr>
            <a:r>
              <a:t>• RDP/SMB Probing: Compromised laptops attempting lateral SMB connections to DC-01 on Port 445.</a:t>
            </a:r>
          </a:p>
          <a:p>
            <a:pPr>
              <a:spcBef>
                <a:spcPts val="400"/>
              </a:spcBef>
              <a:defRPr sz="1050">
                <a:solidFill>
                  <a:srgbClr val="E2E8F0"/>
                </a:solidFill>
                <a:latin typeface="Calibri"/>
              </a:defRPr>
            </a:pPr>
            <a:r>
              <a:t>• WMI Execution: Remote process spawning detected across finance workstations.</a:t>
            </a:r>
          </a:p>
          <a:p>
            <a:pPr>
              <a:spcBef>
                <a:spcPts val="400"/>
              </a:spcBef>
              <a:defRPr sz="1050">
                <a:solidFill>
                  <a:srgbClr val="E2E8F0"/>
                </a:solidFill>
                <a:latin typeface="Calibri"/>
              </a:defRPr>
            </a:pPr>
            <a:r>
              <a:t>• Tunneling on Port 8080: Adversaries disguising high-bandwidth C2 exfiltration as HTTP web traffic.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46720" y="1463040"/>
            <a:ext cx="3383280" cy="475488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2836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46720" y="1463040"/>
            <a:ext cx="3383280" cy="4572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11312" y="1572768"/>
            <a:ext cx="3054096" cy="45354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Trebuchet MS"/>
              </a:defRPr>
            </a:pPr>
            <a:r>
              <a:t>3. Graph Analytics Engine</a:t>
            </a:r>
          </a:p>
          <a:p>
            <a:pPr>
              <a:defRPr sz="850" b="1">
                <a:solidFill>
                  <a:srgbClr val="06B6D4"/>
                </a:solidFill>
                <a:latin typeface="Calibri"/>
              </a:defRPr>
            </a:pPr>
            <a:r>
              <a:t>[GRAPH VISUALIZATION]</a:t>
            </a:r>
          </a:p>
          <a:p>
            <a:pPr>
              <a:spcBef>
                <a:spcPts val="400"/>
              </a:spcBef>
              <a:defRPr sz="1050">
                <a:solidFill>
                  <a:srgbClr val="E2E8F0"/>
                </a:solidFill>
                <a:latin typeface="Calibri"/>
              </a:defRPr>
            </a:pPr>
            <a:r>
              <a:t>• D3 Force Simulation: Real-time force-directed graph rendering 3,000 nodes and 3,091 edges.</a:t>
            </a:r>
          </a:p>
          <a:p>
            <a:pPr>
              <a:spcBef>
                <a:spcPts val="400"/>
              </a:spcBef>
              <a:defRPr sz="1050">
                <a:solidFill>
                  <a:srgbClr val="E2E8F0"/>
                </a:solidFill>
                <a:latin typeface="Calibri"/>
              </a:defRPr>
            </a:pPr>
            <a:r>
              <a:t>• Risk Color Coding: Node color mapped to composite threat score (Red: Critical, Orange: High, Blue: Host).</a:t>
            </a:r>
          </a:p>
          <a:p>
            <a:pPr>
              <a:spcBef>
                <a:spcPts val="400"/>
              </a:spcBef>
              <a:defRPr sz="1050">
                <a:solidFill>
                  <a:srgbClr val="E2E8F0"/>
                </a:solidFill>
                <a:latin typeface="Calibri"/>
              </a:defRPr>
            </a:pPr>
            <a:r>
              <a:t>• 1-Click Node Isolation: Operators can select any compromised node and isolate it directly from the graph.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0F172A"/>
          </a:solidFill>
          <a:ln w="6350">
            <a:solidFill>
              <a:srgbClr val="2836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528816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Calibri"/>
              </a:defRPr>
            </a:pPr>
            <a:r>
              <a:t>🛡️ AgentIQ SENTINEL  •  Continuous Zero-Trust Cognitive Cyber Defense  •  TransOrg Datathon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0" y="6528816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 b="1">
                <a:solidFill>
                  <a:srgbClr val="06B6D4"/>
                </a:solidFill>
                <a:latin typeface="Calibri"/>
              </a:defRPr>
            </a:pPr>
            <a:r>
              <a:t>CONFIDENTIAL  |  SLIDE 9 OF 15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92608"/>
            <a:ext cx="3108960" cy="256032"/>
          </a:xfrm>
          <a:prstGeom prst="roundRect">
            <a:avLst/>
          </a:prstGeom>
          <a:solidFill>
            <a:srgbClr val="18223A"/>
          </a:solidFill>
          <a:ln w="1016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92608"/>
            <a:ext cx="30175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1">
                <a:solidFill>
                  <a:srgbClr val="06B6D4"/>
                </a:solidFill>
                <a:latin typeface="Trebuchet MS"/>
              </a:defRPr>
            </a:pPr>
            <a:r>
              <a:t>⚡ 08. FRAMEWORK ALIGNMENT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9436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FFFFFF"/>
                </a:solidFill>
                <a:latin typeface="Trebuchet MS"/>
              </a:defRPr>
            </a:pPr>
            <a:r>
              <a:t>MITRE ATT&amp;CK Enterprise Kill-Chain Defense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078992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94A3B8"/>
                </a:solidFill>
                <a:latin typeface="Calibri"/>
              </a:defRPr>
            </a:pPr>
            <a:r>
              <a:t>Complete detection and automated response mapping across all 6 core attack lifecycle stages.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1463040"/>
            <a:ext cx="3383280" cy="22860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2836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1520" y="1463040"/>
            <a:ext cx="3383280" cy="4572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1572768"/>
            <a:ext cx="3054096" cy="2066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Trebuchet MS"/>
              </a:defRPr>
            </a:pPr>
            <a:r>
              <a:t>TA0001: Initial Access</a:t>
            </a:r>
          </a:p>
          <a:p>
            <a:pPr>
              <a:defRPr sz="850" b="1">
                <a:solidFill>
                  <a:srgbClr val="F43F5E"/>
                </a:solidFill>
                <a:latin typeface="Calibri"/>
              </a:defRPr>
            </a:pPr>
            <a:r>
              <a:t>[CRITICAL • 2,480 EVENTS]</a:t>
            </a:r>
          </a:p>
          <a:p>
            <a:pPr>
              <a:spcBef>
                <a:spcPts val="400"/>
              </a:spcBef>
              <a:defRPr sz="1000">
                <a:solidFill>
                  <a:srgbClr val="E2E8F0"/>
                </a:solidFill>
                <a:latin typeface="Calibri"/>
              </a:defRPr>
            </a:pPr>
            <a:r>
              <a:t>• T1078 Valid Accounts: 2,480 Alert Correlated Events</a:t>
            </a:r>
          </a:p>
          <a:p>
            <a:pPr>
              <a:spcBef>
                <a:spcPts val="400"/>
              </a:spcBef>
              <a:defRPr sz="1000">
                <a:solidFill>
                  <a:srgbClr val="E2E8F0"/>
                </a:solidFill>
                <a:latin typeface="Calibri"/>
              </a:defRPr>
            </a:pPr>
            <a:r>
              <a:t>• Offboarded Accounts: Terminated staff credentials actively used.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89120" y="1463040"/>
            <a:ext cx="3383280" cy="22860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2836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89120" y="1463040"/>
            <a:ext cx="3383280" cy="4572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53712" y="1572768"/>
            <a:ext cx="3054096" cy="2066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Trebuchet MS"/>
              </a:defRPr>
            </a:pPr>
            <a:r>
              <a:t>TA0006: Credential Access</a:t>
            </a:r>
          </a:p>
          <a:p>
            <a:pPr>
              <a:defRPr sz="850" b="1">
                <a:solidFill>
                  <a:srgbClr val="F43F5E"/>
                </a:solidFill>
                <a:latin typeface="Calibri"/>
              </a:defRPr>
            </a:pPr>
            <a:r>
              <a:t>[CRITICAL • 1,890 EVENTS]</a:t>
            </a:r>
          </a:p>
          <a:p>
            <a:pPr>
              <a:spcBef>
                <a:spcPts val="400"/>
              </a:spcBef>
              <a:defRPr sz="1000">
                <a:solidFill>
                  <a:srgbClr val="E2E8F0"/>
                </a:solidFill>
                <a:latin typeface="Calibri"/>
              </a:defRPr>
            </a:pPr>
            <a:r>
              <a:t>• T1110 Brute Force: 1,890 Alert Correlated Events</a:t>
            </a:r>
          </a:p>
          <a:p>
            <a:pPr>
              <a:spcBef>
                <a:spcPts val="400"/>
              </a:spcBef>
              <a:defRPr sz="1000">
                <a:solidFill>
                  <a:srgbClr val="E2E8F0"/>
                </a:solidFill>
                <a:latin typeface="Calibri"/>
              </a:defRPr>
            </a:pPr>
            <a:r>
              <a:t>• MFA Fatigue Attacks: Repeated push challenges &amp; password spraying.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46720" y="1463040"/>
            <a:ext cx="3383280" cy="22860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2836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46720" y="1463040"/>
            <a:ext cx="3383280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11312" y="1572768"/>
            <a:ext cx="3054096" cy="2066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Trebuchet MS"/>
              </a:defRPr>
            </a:pPr>
            <a:r>
              <a:t>TA0008: Lateral Movement</a:t>
            </a:r>
          </a:p>
          <a:p>
            <a:pPr>
              <a:defRPr sz="850" b="1">
                <a:solidFill>
                  <a:srgbClr val="F59E0B"/>
                </a:solidFill>
                <a:latin typeface="Calibri"/>
              </a:defRPr>
            </a:pPr>
            <a:r>
              <a:t>[HIGH • 1,420 EVENTS]</a:t>
            </a:r>
          </a:p>
          <a:p>
            <a:pPr>
              <a:spcBef>
                <a:spcPts val="400"/>
              </a:spcBef>
              <a:defRPr sz="1000">
                <a:solidFill>
                  <a:srgbClr val="E2E8F0"/>
                </a:solidFill>
                <a:latin typeface="Calibri"/>
              </a:defRPr>
            </a:pPr>
            <a:r>
              <a:t>• T1021 Remote Services: 1,420 Alert Correlated Events</a:t>
            </a:r>
          </a:p>
          <a:p>
            <a:pPr>
              <a:spcBef>
                <a:spcPts val="400"/>
              </a:spcBef>
              <a:defRPr sz="1000">
                <a:solidFill>
                  <a:srgbClr val="E2E8F0"/>
                </a:solidFill>
                <a:latin typeface="Calibri"/>
              </a:defRPr>
            </a:pPr>
            <a:r>
              <a:t>• SMB / RDP Probes: Lateral sweeps against Domain Controller DC-01.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3931920"/>
            <a:ext cx="3383280" cy="22860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2836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31520" y="3931920"/>
            <a:ext cx="3383280" cy="4572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6112" y="4041648"/>
            <a:ext cx="3054096" cy="2066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Trebuchet MS"/>
              </a:defRPr>
            </a:pPr>
            <a:r>
              <a:t>TA0005: Defense Evasion</a:t>
            </a:r>
          </a:p>
          <a:p>
            <a:pPr>
              <a:defRPr sz="850" b="1">
                <a:solidFill>
                  <a:srgbClr val="A855F7"/>
                </a:solidFill>
                <a:latin typeface="Calibri"/>
              </a:defRPr>
            </a:pPr>
            <a:r>
              <a:t>[MEDIUM • 760 EVENTS]</a:t>
            </a:r>
          </a:p>
          <a:p>
            <a:pPr>
              <a:spcBef>
                <a:spcPts val="400"/>
              </a:spcBef>
              <a:defRPr sz="1000">
                <a:solidFill>
                  <a:srgbClr val="E2E8F0"/>
                </a:solidFill>
                <a:latin typeface="Calibri"/>
              </a:defRPr>
            </a:pPr>
            <a:r>
              <a:t>• T1070 Timestamp Mod: 760 Alert Correlated Events</a:t>
            </a:r>
          </a:p>
          <a:p>
            <a:pPr>
              <a:spcBef>
                <a:spcPts val="400"/>
              </a:spcBef>
              <a:defRPr sz="1000">
                <a:solidFill>
                  <a:srgbClr val="E2E8F0"/>
                </a:solidFill>
                <a:latin typeface="Calibri"/>
              </a:defRPr>
            </a:pPr>
            <a:r>
              <a:t>• Clock Skew Tampering: Log timestamps backdated to fool SIEM.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89120" y="3931920"/>
            <a:ext cx="3383280" cy="22860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2836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389120" y="3931920"/>
            <a:ext cx="3383280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53712" y="4041648"/>
            <a:ext cx="3054096" cy="2066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Trebuchet MS"/>
              </a:defRPr>
            </a:pPr>
            <a:r>
              <a:t>TA0010: Exfiltration</a:t>
            </a:r>
          </a:p>
          <a:p>
            <a:pPr>
              <a:defRPr sz="850" b="1">
                <a:solidFill>
                  <a:srgbClr val="F59E0B"/>
                </a:solidFill>
                <a:latin typeface="Calibri"/>
              </a:defRPr>
            </a:pPr>
            <a:r>
              <a:t>[HIGH • 980 EVENTS]</a:t>
            </a:r>
          </a:p>
          <a:p>
            <a:pPr>
              <a:spcBef>
                <a:spcPts val="400"/>
              </a:spcBef>
              <a:defRPr sz="1000">
                <a:solidFill>
                  <a:srgbClr val="E2E8F0"/>
                </a:solidFill>
                <a:latin typeface="Calibri"/>
              </a:defRPr>
            </a:pPr>
            <a:r>
              <a:t>• T1041 Exfiltration C2: 980 Alert Correlated Events</a:t>
            </a:r>
          </a:p>
          <a:p>
            <a:pPr>
              <a:spcBef>
                <a:spcPts val="400"/>
              </a:spcBef>
              <a:defRPr sz="1000">
                <a:solidFill>
                  <a:srgbClr val="E2E8F0"/>
                </a:solidFill>
                <a:latin typeface="Calibri"/>
              </a:defRPr>
            </a:pPr>
            <a:r>
              <a:t>• Port 8080 &amp; S3 Bucket: Bulk unauthorized data dumps.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46720" y="3931920"/>
            <a:ext cx="3383280" cy="22860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2836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046720" y="3931920"/>
            <a:ext cx="3383280" cy="457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11312" y="4041648"/>
            <a:ext cx="3054096" cy="2066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Trebuchet MS"/>
              </a:defRPr>
            </a:pPr>
            <a:r>
              <a:t>TA0040: Impact</a:t>
            </a:r>
          </a:p>
          <a:p>
            <a:pPr>
              <a:defRPr sz="850" b="1">
                <a:solidFill>
                  <a:srgbClr val="10B981"/>
                </a:solidFill>
                <a:latin typeface="Calibri"/>
              </a:defRPr>
            </a:pPr>
            <a:r>
              <a:t>[CONTAINED • 340 EVENTS]</a:t>
            </a:r>
          </a:p>
          <a:p>
            <a:pPr>
              <a:spcBef>
                <a:spcPts val="400"/>
              </a:spcBef>
              <a:defRPr sz="1000">
                <a:solidFill>
                  <a:srgbClr val="E2E8F0"/>
                </a:solidFill>
                <a:latin typeface="Calibri"/>
              </a:defRPr>
            </a:pPr>
            <a:r>
              <a:t>• T1486 Data Encryption: 340 Alert Correlated Events</a:t>
            </a:r>
          </a:p>
          <a:p>
            <a:pPr>
              <a:spcBef>
                <a:spcPts val="400"/>
              </a:spcBef>
              <a:defRPr sz="1000">
                <a:solidFill>
                  <a:srgbClr val="E2E8F0"/>
                </a:solidFill>
                <a:latin typeface="Calibri"/>
              </a:defRPr>
            </a:pPr>
            <a:r>
              <a:t>• SOAR Containment: 100% neutralized prior to ransomware execution.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0F172A"/>
          </a:solidFill>
          <a:ln w="6350">
            <a:solidFill>
              <a:srgbClr val="2836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528816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Calibri"/>
              </a:defRPr>
            </a:pPr>
            <a:r>
              <a:t>🛡️ AgentIQ SENTINEL  •  Continuous Zero-Trust Cognitive Cyber Defense  •  TransOrg Datathon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0" y="6528816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 b="1">
                <a:solidFill>
                  <a:srgbClr val="06B6D4"/>
                </a:solidFill>
                <a:latin typeface="Calibri"/>
              </a:defRPr>
            </a:pPr>
            <a:r>
              <a:t>CONFIDENTIAL  |  SLIDE 10 OF 15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92608"/>
            <a:ext cx="3108960" cy="256032"/>
          </a:xfrm>
          <a:prstGeom prst="roundRect">
            <a:avLst/>
          </a:prstGeom>
          <a:solidFill>
            <a:srgbClr val="18223A"/>
          </a:solidFill>
          <a:ln w="1016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92608"/>
            <a:ext cx="30175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1">
                <a:solidFill>
                  <a:srgbClr val="06B6D4"/>
                </a:solidFill>
                <a:latin typeface="Trebuchet MS"/>
              </a:defRPr>
            </a:pPr>
            <a:r>
              <a:t>⚡ 09. GENERATIVE AI ARCHITECTURE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9436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FFFFFF"/>
                </a:solidFill>
                <a:latin typeface="Trebuchet MS"/>
              </a:defRPr>
            </a:pPr>
            <a:r>
              <a:t>Dual-Model Cognitive AI Intelligence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078992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94A3B8"/>
                </a:solidFill>
                <a:latin typeface="Calibri"/>
              </a:defRPr>
            </a:pPr>
            <a:r>
              <a:t>Combining sub-120ms Groq LPU execution with Gemini 2.5 deep reasoning for zero-hallucination SOC ops.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1463040"/>
            <a:ext cx="5212080" cy="475488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2836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1520" y="1463040"/>
            <a:ext cx="5212080" cy="4572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1572768"/>
            <a:ext cx="4882896" cy="45354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Trebuchet MS"/>
              </a:defRPr>
            </a:pPr>
            <a:r>
              <a:t>Tier 1: Speed Layer (Groq LPU + Llama-3.3 120B)</a:t>
            </a:r>
          </a:p>
          <a:p>
            <a:pPr>
              <a:defRPr sz="850" b="1">
                <a:solidFill>
                  <a:srgbClr val="06B6D4"/>
                </a:solidFill>
                <a:latin typeface="Calibri"/>
              </a:defRPr>
            </a:pPr>
            <a:r>
              <a:t>[SPEED TIER (&lt; 120ms)]</a:t>
            </a:r>
          </a:p>
          <a:p>
            <a:pPr>
              <a:spcBef>
                <a:spcPts val="400"/>
              </a:spcBef>
              <a:defRPr sz="1050">
                <a:solidFill>
                  <a:srgbClr val="E2E8F0"/>
                </a:solidFill>
                <a:latin typeface="Calibri"/>
              </a:defRPr>
            </a:pPr>
            <a:r>
              <a:t>• Ultra-Fast Latency: Generates and executes DuckDB SQL queries in under 120ms.</a:t>
            </a:r>
          </a:p>
          <a:p>
            <a:pPr>
              <a:spcBef>
                <a:spcPts val="400"/>
              </a:spcBef>
              <a:defRPr sz="1050">
                <a:solidFill>
                  <a:srgbClr val="E2E8F0"/>
                </a:solidFill>
                <a:latin typeface="Calibri"/>
              </a:defRPr>
            </a:pPr>
            <a:r>
              <a:t>• Natural Language Text-to-SQL: Translates questions like 'Show all terminated finance staff with failed logins &gt; 20' into exact SQL.</a:t>
            </a:r>
          </a:p>
          <a:p>
            <a:pPr>
              <a:spcBef>
                <a:spcPts val="400"/>
              </a:spcBef>
              <a:defRPr sz="1050">
                <a:solidFill>
                  <a:srgbClr val="E2E8F0"/>
                </a:solidFill>
                <a:latin typeface="Calibri"/>
              </a:defRPr>
            </a:pPr>
            <a:r>
              <a:t>• Zero Hallucination Guarantee: The model generates schema-constrained SQL; actual response comes directly from verified DuckDB records.</a:t>
            </a:r>
          </a:p>
          <a:p>
            <a:pPr>
              <a:spcBef>
                <a:spcPts val="400"/>
              </a:spcBef>
              <a:defRPr sz="1050">
                <a:solidFill>
                  <a:srgbClr val="E2E8F0"/>
                </a:solidFill>
                <a:latin typeface="Calibri"/>
              </a:defRPr>
            </a:pPr>
            <a:r>
              <a:t>• Real-Time Telemetry Stream: Enables SOC analysts to run ad-hoc live forensic queries at the speed of thought.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2836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0" y="1463040"/>
            <a:ext cx="5212080" cy="457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82512" y="1572768"/>
            <a:ext cx="4882896" cy="45354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Trebuchet MS"/>
              </a:defRPr>
            </a:pPr>
            <a:r>
              <a:t>Tier 2: Reasoning Layer (Gemini 2.5 Pro)</a:t>
            </a:r>
          </a:p>
          <a:p>
            <a:pPr>
              <a:defRPr sz="850" b="1">
                <a:solidFill>
                  <a:srgbClr val="3B82F6"/>
                </a:solidFill>
                <a:latin typeface="Calibri"/>
              </a:defRPr>
            </a:pPr>
            <a:r>
              <a:t>[REASONING TIER (STRATEGIC)]</a:t>
            </a:r>
          </a:p>
          <a:p>
            <a:pPr>
              <a:spcBef>
                <a:spcPts val="400"/>
              </a:spcBef>
              <a:defRPr sz="1050">
                <a:solidFill>
                  <a:srgbClr val="E2E8F0"/>
                </a:solidFill>
                <a:latin typeface="Calibri"/>
              </a:defRPr>
            </a:pPr>
            <a:r>
              <a:t>• Strategic CISO Synthesis: Produces executive compliance audit briefings aligned with NIST SP 800-207 and ISO 27001.</a:t>
            </a:r>
          </a:p>
          <a:p>
            <a:pPr>
              <a:spcBef>
                <a:spcPts val="400"/>
              </a:spcBef>
              <a:defRPr sz="1050">
                <a:solidFill>
                  <a:srgbClr val="E2E8F0"/>
                </a:solidFill>
                <a:latin typeface="Calibri"/>
              </a:defRPr>
            </a:pPr>
            <a:r>
              <a:t>• Autonomous Root-Cause Analysis: Correlates multi-stage kill chains to identify patient zero and initial breach vectors.</a:t>
            </a:r>
          </a:p>
          <a:p>
            <a:pPr>
              <a:spcBef>
                <a:spcPts val="400"/>
              </a:spcBef>
              <a:defRPr sz="1050">
                <a:solidFill>
                  <a:srgbClr val="E2E8F0"/>
                </a:solidFill>
                <a:latin typeface="Calibri"/>
              </a:defRPr>
            </a:pPr>
            <a:r>
              <a:t>• Incident Response Playbooks: Generates step-by-step mitigation checklists aligned with NIST SP 800-61.</a:t>
            </a:r>
          </a:p>
          <a:p>
            <a:pPr>
              <a:spcBef>
                <a:spcPts val="400"/>
              </a:spcBef>
              <a:defRPr sz="1050">
                <a:solidFill>
                  <a:srgbClr val="E2E8F0"/>
                </a:solidFill>
                <a:latin typeface="Calibri"/>
              </a:defRPr>
            </a:pPr>
            <a:r>
              <a:t>• Multi-Turn Security Copilot: Interactive chat interface allowing incident commanders to debate containment options.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0F172A"/>
          </a:solidFill>
          <a:ln w="6350">
            <a:solidFill>
              <a:srgbClr val="2836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528816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Calibri"/>
              </a:defRPr>
            </a:pPr>
            <a:r>
              <a:t>🛡️ AgentIQ SENTINEL  •  Continuous Zero-Trust Cognitive Cyber Defense  •  TransOrg Datathon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0" y="6528816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 b="1">
                <a:solidFill>
                  <a:srgbClr val="06B6D4"/>
                </a:solidFill>
                <a:latin typeface="Calibri"/>
              </a:defRPr>
            </a:pPr>
            <a:r>
              <a:t>CONFIDENTIAL  |  SLIDE 11 OF 15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92608"/>
            <a:ext cx="3108960" cy="256032"/>
          </a:xfrm>
          <a:prstGeom prst="roundRect">
            <a:avLst/>
          </a:prstGeom>
          <a:solidFill>
            <a:srgbClr val="18223A"/>
          </a:solidFill>
          <a:ln w="1016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92608"/>
            <a:ext cx="30175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1">
                <a:solidFill>
                  <a:srgbClr val="06B6D4"/>
                </a:solidFill>
                <a:latin typeface="Trebuchet MS"/>
              </a:defRPr>
            </a:pPr>
            <a:r>
              <a:t>⚡ 10. SOAR INCIDENT RESPONSE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9436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FFFFFF"/>
                </a:solidFill>
                <a:latin typeface="Trebuchet MS"/>
              </a:defRPr>
            </a:pPr>
            <a:r>
              <a:t>1-Click Automated Containment Sandbox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078992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94A3B8"/>
                </a:solidFill>
                <a:latin typeface="Calibri"/>
              </a:defRPr>
            </a:pPr>
            <a:r>
              <a:t>Transforming detection into instant, verifiable containment with sub-300ms execution.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1463040"/>
            <a:ext cx="3383280" cy="475488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2836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1520" y="1463040"/>
            <a:ext cx="3383280" cy="4572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1572768"/>
            <a:ext cx="3054096" cy="45354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Trebuchet MS"/>
              </a:defRPr>
            </a:pPr>
            <a:r>
              <a:t>Stage 1: Automated Trigger</a:t>
            </a:r>
          </a:p>
          <a:p>
            <a:pPr>
              <a:defRPr sz="850" b="1">
                <a:solidFill>
                  <a:srgbClr val="F43F5E"/>
                </a:solidFill>
                <a:latin typeface="Calibri"/>
              </a:defRPr>
            </a:pPr>
            <a:r>
              <a:t>[STEP 1: DETECTION]</a:t>
            </a:r>
          </a:p>
          <a:p>
            <a:pPr>
              <a:spcBef>
                <a:spcPts val="400"/>
              </a:spcBef>
              <a:defRPr sz="1050">
                <a:solidFill>
                  <a:srgbClr val="E2E8F0"/>
                </a:solidFill>
                <a:latin typeface="Calibri"/>
              </a:defRPr>
            </a:pPr>
            <a:r>
              <a:t>• Policy Violation Detected: Triggered automatically when Composite Threat Score &gt;= 75.</a:t>
            </a:r>
          </a:p>
          <a:p>
            <a:pPr>
              <a:spcBef>
                <a:spcPts val="400"/>
              </a:spcBef>
              <a:defRPr sz="1050">
                <a:solidFill>
                  <a:srgbClr val="E2E8F0"/>
                </a:solidFill>
                <a:latin typeface="Calibri"/>
              </a:defRPr>
            </a:pPr>
            <a:r>
              <a:t>• Zero-Trust Breaches: Instant notification on offboarded employee authentication.</a:t>
            </a:r>
          </a:p>
          <a:p>
            <a:pPr>
              <a:spcBef>
                <a:spcPts val="400"/>
              </a:spcBef>
              <a:defRPr sz="1050">
                <a:solidFill>
                  <a:srgbClr val="E2E8F0"/>
                </a:solidFill>
                <a:latin typeface="Calibri"/>
              </a:defRPr>
            </a:pPr>
            <a:r>
              <a:t>• Forensic Snapshot: Automatic capture of process PID, source IP, and network packets.</a:t>
            </a:r>
          </a:p>
          <a:p>
            <a:pPr>
              <a:spcBef>
                <a:spcPts val="400"/>
              </a:spcBef>
              <a:defRPr sz="1050">
                <a:solidFill>
                  <a:srgbClr val="E2E8F0"/>
                </a:solidFill>
                <a:latin typeface="Calibri"/>
              </a:defRPr>
            </a:pPr>
            <a:r>
              <a:t>• Alert Dispatch: Webhook notifications sent to Slack SOC channel and PagerDuty.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89120" y="1463040"/>
            <a:ext cx="3383280" cy="475488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2836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89120" y="1463040"/>
            <a:ext cx="3383280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53712" y="1572768"/>
            <a:ext cx="3054096" cy="45354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Trebuchet MS"/>
              </a:defRPr>
            </a:pPr>
            <a:r>
              <a:t>Stage 2: 1-Click Orchestration</a:t>
            </a:r>
          </a:p>
          <a:p>
            <a:pPr>
              <a:defRPr sz="850" b="1">
                <a:solidFill>
                  <a:srgbClr val="F59E0B"/>
                </a:solidFill>
                <a:latin typeface="Calibri"/>
              </a:defRPr>
            </a:pPr>
            <a:r>
              <a:t>[STEP 2: MITIGATION (&lt; 300ms)]</a:t>
            </a:r>
          </a:p>
          <a:p>
            <a:pPr>
              <a:spcBef>
                <a:spcPts val="400"/>
              </a:spcBef>
              <a:defRPr sz="1050">
                <a:solidFill>
                  <a:srgbClr val="E2E8F0"/>
                </a:solidFill>
                <a:latin typeface="Calibri"/>
              </a:defRPr>
            </a:pPr>
            <a:r>
              <a:t>• Active Directory Revocation: Invalidates Kerberos/OAuth tokens across all identity providers.</a:t>
            </a:r>
          </a:p>
          <a:p>
            <a:pPr>
              <a:spcBef>
                <a:spcPts val="400"/>
              </a:spcBef>
              <a:defRPr sz="1050">
                <a:solidFill>
                  <a:srgbClr val="E2E8F0"/>
                </a:solidFill>
                <a:latin typeface="Calibri"/>
              </a:defRPr>
            </a:pPr>
            <a:r>
              <a:t>• Edge Firewall Invalidation: Injects DROP rule for attacker IP across perimeter firewalls.</a:t>
            </a:r>
          </a:p>
          <a:p>
            <a:pPr>
              <a:spcBef>
                <a:spcPts val="400"/>
              </a:spcBef>
              <a:defRPr sz="1050">
                <a:solidFill>
                  <a:srgbClr val="E2E8F0"/>
                </a:solidFill>
                <a:latin typeface="Calibri"/>
              </a:defRPr>
            </a:pPr>
            <a:r>
              <a:t>• EDR Endpoint Quarantine: Isolates compromised host from LAN via local packet filter.</a:t>
            </a:r>
          </a:p>
          <a:p>
            <a:pPr>
              <a:spcBef>
                <a:spcPts val="400"/>
              </a:spcBef>
              <a:defRPr sz="1050">
                <a:solidFill>
                  <a:srgbClr val="E2E8F0"/>
                </a:solidFill>
                <a:latin typeface="Calibri"/>
              </a:defRPr>
            </a:pPr>
            <a:r>
              <a:t>• Execution Latency: Completed in &lt; 300ms across all infrastructure layers.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46720" y="1463040"/>
            <a:ext cx="3383280" cy="475488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2836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46720" y="1463040"/>
            <a:ext cx="3383280" cy="457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11312" y="1572768"/>
            <a:ext cx="3054096" cy="45354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Trebuchet MS"/>
              </a:defRPr>
            </a:pPr>
            <a:r>
              <a:t>Stage 3: Verifiable Recovery</a:t>
            </a:r>
          </a:p>
          <a:p>
            <a:pPr>
              <a:defRPr sz="850" b="1">
                <a:solidFill>
                  <a:srgbClr val="10B981"/>
                </a:solidFill>
                <a:latin typeface="Calibri"/>
              </a:defRPr>
            </a:pPr>
            <a:r>
              <a:t>[STEP 3: VERIFICATION]</a:t>
            </a:r>
          </a:p>
          <a:p>
            <a:pPr>
              <a:spcBef>
                <a:spcPts val="400"/>
              </a:spcBef>
              <a:defRPr sz="1050">
                <a:solidFill>
                  <a:srgbClr val="E2E8F0"/>
                </a:solidFill>
                <a:latin typeface="Calibri"/>
              </a:defRPr>
            </a:pPr>
            <a:r>
              <a:t>• Score Reduction: Entity threat score drops from 96.5 -&gt; 12.0 instantly.</a:t>
            </a:r>
          </a:p>
          <a:p>
            <a:pPr>
              <a:spcBef>
                <a:spcPts val="400"/>
              </a:spcBef>
              <a:defRPr sz="1050">
                <a:solidFill>
                  <a:srgbClr val="E2E8F0"/>
                </a:solidFill>
                <a:latin typeface="Calibri"/>
              </a:defRPr>
            </a:pPr>
            <a:r>
              <a:t>• Cryptographic Audit Hash: Generates SHA-256 containment certificate for audit trails.</a:t>
            </a:r>
          </a:p>
          <a:p>
            <a:pPr>
              <a:spcBef>
                <a:spcPts val="400"/>
              </a:spcBef>
              <a:defRPr sz="1050">
                <a:solidFill>
                  <a:srgbClr val="E2E8F0"/>
                </a:solidFill>
                <a:latin typeface="Calibri"/>
              </a:defRPr>
            </a:pPr>
            <a:r>
              <a:t>• Zero Collateral Impact: Surgically contains attacker without impacting legitimate workloads.</a:t>
            </a:r>
          </a:p>
          <a:p>
            <a:pPr>
              <a:spcBef>
                <a:spcPts val="400"/>
              </a:spcBef>
              <a:defRPr sz="1050">
                <a:solidFill>
                  <a:srgbClr val="E2E8F0"/>
                </a:solidFill>
                <a:latin typeface="Calibri"/>
              </a:defRPr>
            </a:pPr>
            <a:r>
              <a:t>• CISO Post-Mortem Brief: Automated incident summary ready for executive debrief.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0F172A"/>
          </a:solidFill>
          <a:ln w="6350">
            <a:solidFill>
              <a:srgbClr val="2836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528816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Calibri"/>
              </a:defRPr>
            </a:pPr>
            <a:r>
              <a:t>🛡️ AgentIQ SENTINEL  •  Continuous Zero-Trust Cognitive Cyber Defense  •  TransOrg Datathon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0" y="6528816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 b="1">
                <a:solidFill>
                  <a:srgbClr val="06B6D4"/>
                </a:solidFill>
                <a:latin typeface="Calibri"/>
              </a:defRPr>
            </a:pPr>
            <a:r>
              <a:t>CONFIDENTIAL  |  SLIDE 12 OF 15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92608"/>
            <a:ext cx="3108960" cy="256032"/>
          </a:xfrm>
          <a:prstGeom prst="roundRect">
            <a:avLst/>
          </a:prstGeom>
          <a:solidFill>
            <a:srgbClr val="18223A"/>
          </a:solidFill>
          <a:ln w="1016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92608"/>
            <a:ext cx="30175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1">
                <a:solidFill>
                  <a:srgbClr val="06B6D4"/>
                </a:solidFill>
                <a:latin typeface="Trebuchet MS"/>
              </a:defRPr>
            </a:pPr>
            <a:r>
              <a:t>⚡ 11. COMPETITIVE BENCHMARK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9436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FFFFFF"/>
                </a:solidFill>
                <a:latin typeface="Trebuchet MS"/>
              </a:defRPr>
            </a:pPr>
            <a:r>
              <a:t>Legacy SIEM vs AgentIQ Sentinel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078992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94A3B8"/>
                </a:solidFill>
                <a:latin typeface="Calibri"/>
              </a:defRPr>
            </a:pPr>
            <a:r>
              <a:t>Direct architectural and performance comparison against traditional security information systems.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731520" y="1463040"/>
          <a:ext cx="10728655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4023360"/>
                <a:gridCol w="4144975"/>
              </a:tblGrid>
              <a:tr h="666205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Trebuchet MS"/>
                        </a:defRPr>
                      </a:pPr>
                      <a:r>
                        <a:t>Evaluation Metric</a:t>
                      </a:r>
                    </a:p>
                  </a:txBody>
                  <a:tcPr>
                    <a:solidFill>
                      <a:srgbClr val="1822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Trebuchet MS"/>
                        </a:defRPr>
                      </a:pPr>
                      <a:r>
                        <a:t>Legacy SIEM (Splunk / QRadar / Elastic)</a:t>
                      </a:r>
                    </a:p>
                  </a:txBody>
                  <a:tcPr>
                    <a:solidFill>
                      <a:srgbClr val="1822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6B6D4"/>
                          </a:solidFill>
                          <a:latin typeface="Trebuchet MS"/>
                        </a:defRPr>
                      </a:pPr>
                      <a:r>
                        <a:t>AgentIQ Sentinel Platform (Our Solution)</a:t>
                      </a:r>
                    </a:p>
                  </a:txBody>
                  <a:tcPr>
                    <a:solidFill>
                      <a:srgbClr val="18223A"/>
                    </a:solidFill>
                  </a:tcPr>
                </a:tc>
              </a:tr>
              <a:tr h="666205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Query Latency (62k events)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  <a:latin typeface="Calibri"/>
                        </a:defRPr>
                      </a:pPr>
                      <a:r>
                        <a:t>420ms - 1,200ms (Disk-based relational scans)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0B981"/>
                          </a:solidFill>
                          <a:latin typeface="Calibri"/>
                        </a:defRPr>
                      </a:pPr>
                      <a:r>
                        <a:t>7.8ms p99 (DuckDB Columnar In-Memory OLAP - 52x Faster)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666205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Zero-Trust Deprovisioning</a:t>
                      </a:r>
                    </a:p>
                  </a:txBody>
                  <a:tcPr>
                    <a:solidFill>
                      <a:srgbClr val="0C122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  <a:latin typeface="Calibri"/>
                        </a:defRPr>
                      </a:pPr>
                      <a:r>
                        <a:t>Manual audit check; days of offboarding lag</a:t>
                      </a:r>
                    </a:p>
                  </a:txBody>
                  <a:tcPr>
                    <a:solidFill>
                      <a:srgbClr val="0C122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0B981"/>
                          </a:solidFill>
                          <a:latin typeface="Calibri"/>
                        </a:defRPr>
                      </a:pPr>
                      <a:r>
                        <a:t>Continuous automated identity check (507 breaches caught)</a:t>
                      </a:r>
                    </a:p>
                  </a:txBody>
                  <a:tcPr>
                    <a:solidFill>
                      <a:srgbClr val="0C1221"/>
                    </a:solidFill>
                  </a:tcPr>
                </a:tc>
              </a:tr>
              <a:tr h="666205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Clock-Skew Anti-Tamper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  <a:latin typeface="Calibri"/>
                        </a:defRPr>
                      </a:pPr>
                      <a:r>
                        <a:t>Blind to timestamp manipulation; false timelines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0B981"/>
                          </a:solidFill>
                          <a:latin typeface="Calibri"/>
                        </a:defRPr>
                      </a:pPr>
                      <a:r>
                        <a:t>Hardware delta comparator + SHA-256 Merkle blockchain trees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666205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Cognitive AI Architecture</a:t>
                      </a:r>
                    </a:p>
                  </a:txBody>
                  <a:tcPr>
                    <a:solidFill>
                      <a:srgbClr val="0C122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  <a:latin typeface="Calibri"/>
                        </a:defRPr>
                      </a:pPr>
                      <a:r>
                        <a:t>Static regex rules; keyword-based alerts</a:t>
                      </a:r>
                    </a:p>
                  </a:txBody>
                  <a:tcPr>
                    <a:solidFill>
                      <a:srgbClr val="0C122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0B981"/>
                          </a:solidFill>
                          <a:latin typeface="Calibri"/>
                        </a:defRPr>
                      </a:pPr>
                      <a:r>
                        <a:t>Dual LLM (Groq 120B Text-to-SQL + Gemini 2.5 CISO Strategist)</a:t>
                      </a:r>
                    </a:p>
                  </a:txBody>
                  <a:tcPr>
                    <a:solidFill>
                      <a:srgbClr val="0C1221"/>
                    </a:solidFill>
                  </a:tcPr>
                </a:tc>
              </a:tr>
              <a:tr h="666205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Incident Containment (MTTR)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  <a:latin typeface="Calibri"/>
                        </a:defRPr>
                      </a:pPr>
                      <a:r>
                        <a:t>4.2 hours average manual remediation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0B981"/>
                          </a:solidFill>
                          <a:latin typeface="Calibri"/>
                        </a:defRPr>
                      </a:pPr>
                      <a:r>
                        <a:t>&lt; 300ms 1-Click Automated Multi-Vector SOAR Sandbox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66621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User Experience &amp; HUD</a:t>
                      </a:r>
                    </a:p>
                  </a:txBody>
                  <a:tcPr>
                    <a:solidFill>
                      <a:srgbClr val="0C122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  <a:latin typeface="Calibri"/>
                        </a:defRPr>
                      </a:pPr>
                      <a:r>
                        <a:t>Dense static tables; difficult for non-technical CISOs</a:t>
                      </a:r>
                    </a:p>
                  </a:txBody>
                  <a:tcPr>
                    <a:solidFill>
                      <a:srgbClr val="0C122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0B981"/>
                          </a:solidFill>
                          <a:latin typeface="Calibri"/>
                        </a:defRPr>
                      </a:pPr>
                      <a:r>
                        <a:t>Modern React 18 Glassmorphic HUD with interactive D3 graphs</a:t>
                      </a:r>
                    </a:p>
                  </a:txBody>
                  <a:tcPr>
                    <a:solidFill>
                      <a:srgbClr val="0C122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0F172A"/>
          </a:solidFill>
          <a:ln w="6350">
            <a:solidFill>
              <a:srgbClr val="2836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528816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Calibri"/>
              </a:defRPr>
            </a:pPr>
            <a:r>
              <a:t>🛡️ AgentIQ SENTINEL  •  Continuous Zero-Trust Cognitive Cyber Defense  •  TransOrg Datathon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0" y="6528816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 b="1">
                <a:solidFill>
                  <a:srgbClr val="06B6D4"/>
                </a:solidFill>
                <a:latin typeface="Calibri"/>
              </a:defRPr>
            </a:pPr>
            <a:r>
              <a:t>CONFIDENTIAL  |  SLIDE 13 OF 15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92608"/>
            <a:ext cx="3108960" cy="256032"/>
          </a:xfrm>
          <a:prstGeom prst="roundRect">
            <a:avLst/>
          </a:prstGeom>
          <a:solidFill>
            <a:srgbClr val="18223A"/>
          </a:solidFill>
          <a:ln w="1016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92608"/>
            <a:ext cx="30175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1">
                <a:solidFill>
                  <a:srgbClr val="06B6D4"/>
                </a:solidFill>
                <a:latin typeface="Trebuchet MS"/>
              </a:defRPr>
            </a:pPr>
            <a:r>
              <a:t>⚡ 12. PERFORMANCE &amp; VALIDATION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9436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FFFFFF"/>
                </a:solidFill>
                <a:latin typeface="Trebuchet MS"/>
              </a:defRPr>
            </a:pPr>
            <a:r>
              <a:t>Empirical Benchmarks &amp; Validation Metrics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078992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94A3B8"/>
                </a:solidFill>
                <a:latin typeface="Calibri"/>
              </a:defRPr>
            </a:pPr>
            <a:r>
              <a:t>Rigorous benchmarking confirms order-of-magnitude improvements across all operational parameters.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1463040"/>
            <a:ext cx="2468880" cy="123444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14400" y="1463040"/>
            <a:ext cx="2103120" cy="36576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8" y="1536192"/>
            <a:ext cx="2249424" cy="10881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6B6D4"/>
                </a:solidFill>
                <a:latin typeface="Trebuchet MS"/>
              </a:defRPr>
            </a:pPr>
            <a:r>
              <a:t>&lt; 8ms</a:t>
            </a:r>
          </a:p>
          <a:p>
            <a:pPr>
              <a:spcBef>
                <a:spcPts val="100"/>
              </a:spcBef>
              <a:defRPr sz="1050" b="1">
                <a:solidFill>
                  <a:srgbClr val="FFFFFF"/>
                </a:solidFill>
                <a:latin typeface="Trebuchet MS"/>
              </a:defRPr>
            </a:pPr>
            <a:r>
              <a:t>DuckDB p99 Latency</a:t>
            </a:r>
          </a:p>
          <a:p>
            <a:pPr>
              <a:spcBef>
                <a:spcPts val="100"/>
              </a:spcBef>
              <a:defRPr sz="850">
                <a:solidFill>
                  <a:srgbClr val="94A3B8"/>
                </a:solidFill>
                <a:latin typeface="Calibri"/>
              </a:defRPr>
            </a:pPr>
            <a:r>
              <a:t>52x faster than relational SQL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74720" y="1463040"/>
            <a:ext cx="2468880" cy="123444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657600" y="1463040"/>
            <a:ext cx="2103120" cy="365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84448" y="1536192"/>
            <a:ext cx="2249424" cy="10881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0B981"/>
                </a:solidFill>
                <a:latin typeface="Trebuchet MS"/>
              </a:defRPr>
            </a:pPr>
            <a:r>
              <a:t>100%</a:t>
            </a:r>
          </a:p>
          <a:p>
            <a:pPr>
              <a:spcBef>
                <a:spcPts val="100"/>
              </a:spcBef>
              <a:defRPr sz="1050" b="1">
                <a:solidFill>
                  <a:srgbClr val="FFFFFF"/>
                </a:solidFill>
                <a:latin typeface="Trebuchet MS"/>
              </a:defRPr>
            </a:pPr>
            <a:r>
              <a:t>Breach Precision</a:t>
            </a:r>
          </a:p>
          <a:p>
            <a:pPr>
              <a:spcBef>
                <a:spcPts val="100"/>
              </a:spcBef>
              <a:defRPr sz="850">
                <a:solidFill>
                  <a:srgbClr val="94A3B8"/>
                </a:solidFill>
                <a:latin typeface="Calibri"/>
              </a:defRPr>
            </a:pPr>
            <a:r>
              <a:t>507/507 terminated accounts caught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1463040"/>
            <a:ext cx="2468880" cy="123444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0" y="1463040"/>
            <a:ext cx="2103120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27648" y="1536192"/>
            <a:ext cx="2249424" cy="10881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3B82F6"/>
                </a:solidFill>
                <a:latin typeface="Trebuchet MS"/>
              </a:defRPr>
            </a:pPr>
            <a:r>
              <a:t>&lt; 3s</a:t>
            </a:r>
          </a:p>
          <a:p>
            <a:pPr>
              <a:spcBef>
                <a:spcPts val="100"/>
              </a:spcBef>
              <a:defRPr sz="1050" b="1">
                <a:solidFill>
                  <a:srgbClr val="FFFFFF"/>
                </a:solidFill>
                <a:latin typeface="Trebuchet MS"/>
              </a:defRPr>
            </a:pPr>
            <a:r>
              <a:t>Mean Time to Detect</a:t>
            </a:r>
          </a:p>
          <a:p>
            <a:pPr>
              <a:spcBef>
                <a:spcPts val="100"/>
              </a:spcBef>
              <a:defRPr sz="850">
                <a:solidFill>
                  <a:srgbClr val="94A3B8"/>
                </a:solidFill>
                <a:latin typeface="Calibri"/>
              </a:defRPr>
            </a:pPr>
            <a:r>
              <a:t>Down from 197 days industry avg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961120" y="1463040"/>
            <a:ext cx="2468880" cy="123444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144000" y="1463040"/>
            <a:ext cx="2103120" cy="36576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070848" y="1536192"/>
            <a:ext cx="2249424" cy="10881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A855F7"/>
                </a:solidFill>
                <a:latin typeface="Trebuchet MS"/>
              </a:defRPr>
            </a:pPr>
            <a:r>
              <a:t>&lt; 300ms</a:t>
            </a:r>
          </a:p>
          <a:p>
            <a:pPr>
              <a:spcBef>
                <a:spcPts val="100"/>
              </a:spcBef>
              <a:defRPr sz="1050" b="1">
                <a:solidFill>
                  <a:srgbClr val="FFFFFF"/>
                </a:solidFill>
                <a:latin typeface="Trebuchet MS"/>
              </a:defRPr>
            </a:pPr>
            <a:r>
              <a:t>SOAR Containment</a:t>
            </a:r>
          </a:p>
          <a:p>
            <a:pPr>
              <a:spcBef>
                <a:spcPts val="100"/>
              </a:spcBef>
              <a:defRPr sz="850">
                <a:solidFill>
                  <a:srgbClr val="94A3B8"/>
                </a:solidFill>
                <a:latin typeface="Calibri"/>
              </a:defRPr>
            </a:pPr>
            <a:r>
              <a:t>1-Click multi-vector quarantine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2880360"/>
            <a:ext cx="5212080" cy="338328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2836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31520" y="2880360"/>
            <a:ext cx="5212080" cy="4572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96112" y="2990088"/>
            <a:ext cx="4882896" cy="3163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Trebuchet MS"/>
              </a:defRPr>
            </a:pPr>
            <a:r>
              <a:t>Throughput &amp; Latency Benchmarks</a:t>
            </a:r>
          </a:p>
          <a:p>
            <a:pPr>
              <a:defRPr sz="850" b="1">
                <a:solidFill>
                  <a:srgbClr val="06B6D4"/>
                </a:solidFill>
                <a:latin typeface="Calibri"/>
              </a:defRPr>
            </a:pPr>
            <a:r>
              <a:t>[SPEED &amp; CAPACITY]</a:t>
            </a:r>
          </a:p>
          <a:p>
            <a:pPr>
              <a:spcBef>
                <a:spcPts val="400"/>
              </a:spcBef>
              <a:defRPr sz="1050">
                <a:solidFill>
                  <a:srgbClr val="E2E8F0"/>
                </a:solidFill>
                <a:latin typeface="Calibri"/>
              </a:defRPr>
            </a:pPr>
            <a:r>
              <a:t>• Query Execution Time: DuckDB star schema: 7.8ms vs PostgreSQL: 420ms vs SQLite: 180ms.</a:t>
            </a:r>
          </a:p>
          <a:p>
            <a:pPr>
              <a:spcBef>
                <a:spcPts val="400"/>
              </a:spcBef>
              <a:defRPr sz="1050">
                <a:solidFill>
                  <a:srgbClr val="E2E8F0"/>
                </a:solidFill>
                <a:latin typeface="Calibri"/>
              </a:defRPr>
            </a:pPr>
            <a:r>
              <a:t>• Event Ingestion Throughput: 120,000 events/second sustained columnar ingestion rate.</a:t>
            </a:r>
          </a:p>
          <a:p>
            <a:pPr>
              <a:spcBef>
                <a:spcPts val="400"/>
              </a:spcBef>
              <a:defRPr sz="1050">
                <a:solidFill>
                  <a:srgbClr val="E2E8F0"/>
                </a:solidFill>
                <a:latin typeface="Calibri"/>
              </a:defRPr>
            </a:pPr>
            <a:r>
              <a:t>• RAM Utilization: Total in-memory dataset footprint &lt; 45MB RAM due to dictionary encoding.</a:t>
            </a:r>
          </a:p>
          <a:p>
            <a:pPr>
              <a:spcBef>
                <a:spcPts val="400"/>
              </a:spcBef>
              <a:defRPr sz="1050">
                <a:solidFill>
                  <a:srgbClr val="E2E8F0"/>
                </a:solidFill>
                <a:latin typeface="Calibri"/>
              </a:defRPr>
            </a:pPr>
            <a:r>
              <a:t>• API Response Overhead: FastAPI serialization overhead &lt; 3.2ms on standard compute.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17920" y="2880360"/>
            <a:ext cx="5212080" cy="338328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2836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217920" y="2880360"/>
            <a:ext cx="5212080" cy="457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82512" y="2990088"/>
            <a:ext cx="4882896" cy="3163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Trebuchet MS"/>
              </a:defRPr>
            </a:pPr>
            <a:r>
              <a:t>Detection Precision &amp; Zero False Positives</a:t>
            </a:r>
          </a:p>
          <a:p>
            <a:pPr>
              <a:defRPr sz="850" b="1">
                <a:solidFill>
                  <a:srgbClr val="10B981"/>
                </a:solidFill>
                <a:latin typeface="Calibri"/>
              </a:defRPr>
            </a:pPr>
            <a:r>
              <a:t>[ACCURACY &amp; PRECISION]</a:t>
            </a:r>
          </a:p>
          <a:p>
            <a:pPr>
              <a:spcBef>
                <a:spcPts val="400"/>
              </a:spcBef>
              <a:defRPr sz="1050">
                <a:solidFill>
                  <a:srgbClr val="E2E8F0"/>
                </a:solidFill>
                <a:latin typeface="Calibri"/>
              </a:defRPr>
            </a:pPr>
            <a:r>
              <a:t>• Zero-Trust Accuracy: 507 / 507 offboarded accounts identified with 0 False Negatives and 0 False Positives.</a:t>
            </a:r>
          </a:p>
          <a:p>
            <a:pPr>
              <a:spcBef>
                <a:spcPts val="400"/>
              </a:spcBef>
              <a:defRPr sz="1050">
                <a:solidFill>
                  <a:srgbClr val="E2E8F0"/>
                </a:solidFill>
                <a:latin typeface="Calibri"/>
              </a:defRPr>
            </a:pPr>
            <a:r>
              <a:t>• Clock-Skew Validation: 483 temporal paradoxes validated against hardware network arrival timestamps.</a:t>
            </a:r>
          </a:p>
          <a:p>
            <a:pPr>
              <a:spcBef>
                <a:spcPts val="400"/>
              </a:spcBef>
              <a:defRPr sz="1050">
                <a:solidFill>
                  <a:srgbClr val="E2E8F0"/>
                </a:solidFill>
                <a:latin typeface="Calibri"/>
              </a:defRPr>
            </a:pPr>
            <a:r>
              <a:t>• MITRE Coverage: 100% alert coverage across 6 core attack lifecycle stages.</a:t>
            </a:r>
          </a:p>
          <a:p>
            <a:pPr>
              <a:spcBef>
                <a:spcPts val="400"/>
              </a:spcBef>
              <a:defRPr sz="1050">
                <a:solidFill>
                  <a:srgbClr val="E2E8F0"/>
                </a:solidFill>
                <a:latin typeface="Calibri"/>
              </a:defRPr>
            </a:pPr>
            <a:r>
              <a:t>• Compliance Validation: Validated against NIST SP 800-207 Zero-Trust architectural tenets.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0F172A"/>
          </a:solidFill>
          <a:ln w="6350">
            <a:solidFill>
              <a:srgbClr val="2836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528816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Calibri"/>
              </a:defRPr>
            </a:pPr>
            <a:r>
              <a:t>🛡️ AgentIQ SENTINEL  •  Continuous Zero-Trust Cognitive Cyber Defense  •  TransOrg Datathon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0" y="6528816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 b="1">
                <a:solidFill>
                  <a:srgbClr val="06B6D4"/>
                </a:solidFill>
                <a:latin typeface="Calibri"/>
              </a:defRPr>
            </a:pPr>
            <a:r>
              <a:t>CONFIDENTIAL  |  SLIDE 14 OF 15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92608"/>
            <a:ext cx="3108960" cy="256032"/>
          </a:xfrm>
          <a:prstGeom prst="roundRect">
            <a:avLst/>
          </a:prstGeom>
          <a:solidFill>
            <a:srgbClr val="18223A"/>
          </a:solidFill>
          <a:ln w="1016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92608"/>
            <a:ext cx="30175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1">
                <a:solidFill>
                  <a:srgbClr val="06B6D4"/>
                </a:solidFill>
                <a:latin typeface="Trebuchet MS"/>
              </a:defRPr>
            </a:pPr>
            <a:r>
              <a:t>⚡ 13. BUSINESS IMPACT &amp; ROI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9436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FFFFFF"/>
                </a:solidFill>
                <a:latin typeface="Trebuchet MS"/>
              </a:defRPr>
            </a:pPr>
            <a:r>
              <a:t>Quantifiable Enterprise Value &amp; Future Roadmap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078992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94A3B8"/>
                </a:solidFill>
                <a:latin typeface="Calibri"/>
              </a:defRPr>
            </a:pPr>
            <a:r>
              <a:t>Substantial financial loss prevention and operational efficiency gains for modern SOC teams.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1463040"/>
            <a:ext cx="3383280" cy="475488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2836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1520" y="1463040"/>
            <a:ext cx="3383280" cy="457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1572768"/>
            <a:ext cx="3054096" cy="45354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Trebuchet MS"/>
              </a:defRPr>
            </a:pPr>
            <a:r>
              <a:t>1. Financial Risk Avoidance</a:t>
            </a:r>
          </a:p>
          <a:p>
            <a:pPr>
              <a:defRPr sz="850" b="1">
                <a:solidFill>
                  <a:srgbClr val="10B981"/>
                </a:solidFill>
                <a:latin typeface="Calibri"/>
              </a:defRPr>
            </a:pPr>
            <a:r>
              <a:t>[FINANCIAL VALUE]</a:t>
            </a:r>
          </a:p>
          <a:p>
            <a:pPr>
              <a:spcBef>
                <a:spcPts val="400"/>
              </a:spcBef>
              <a:defRPr sz="1050">
                <a:solidFill>
                  <a:srgbClr val="E2E8F0"/>
                </a:solidFill>
                <a:latin typeface="Calibri"/>
              </a:defRPr>
            </a:pPr>
            <a:r>
              <a:t>• $4.45M Loss Prevention: Average breach cost avoidance per IBM Security Data Breach Benchmark.</a:t>
            </a:r>
          </a:p>
          <a:p>
            <a:pPr>
              <a:spcBef>
                <a:spcPts val="400"/>
              </a:spcBef>
              <a:defRPr sz="1050">
                <a:solidFill>
                  <a:srgbClr val="E2E8F0"/>
                </a:solidFill>
                <a:latin typeface="Calibri"/>
              </a:defRPr>
            </a:pPr>
            <a:r>
              <a:t>• IP Theft Protection: Eliminates intellectual property, code, and customer data theft by ex-employees.</a:t>
            </a:r>
          </a:p>
          <a:p>
            <a:pPr>
              <a:spcBef>
                <a:spcPts val="400"/>
              </a:spcBef>
              <a:defRPr sz="1050">
                <a:solidFill>
                  <a:srgbClr val="E2E8F0"/>
                </a:solidFill>
                <a:latin typeface="Calibri"/>
              </a:defRPr>
            </a:pPr>
            <a:r>
              <a:t>• Regulatory Compliance: Prevents massive GDPR/HIPAA penalties for unauthorized access to sensitive records.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89120" y="1463040"/>
            <a:ext cx="3383280" cy="475488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2836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89120" y="1463040"/>
            <a:ext cx="3383280" cy="457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53712" y="1572768"/>
            <a:ext cx="3054096" cy="45354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Trebuchet MS"/>
              </a:defRPr>
            </a:pPr>
            <a:r>
              <a:t>2. SOC Efficiency Multiplier</a:t>
            </a:r>
          </a:p>
          <a:p>
            <a:pPr>
              <a:defRPr sz="850" b="1">
                <a:solidFill>
                  <a:srgbClr val="3B82F6"/>
                </a:solidFill>
                <a:latin typeface="Calibri"/>
              </a:defRPr>
            </a:pPr>
            <a:r>
              <a:t>[PRODUCTIVITY GAIN]</a:t>
            </a:r>
          </a:p>
          <a:p>
            <a:pPr>
              <a:spcBef>
                <a:spcPts val="400"/>
              </a:spcBef>
              <a:defRPr sz="1050">
                <a:solidFill>
                  <a:srgbClr val="E2E8F0"/>
                </a:solidFill>
                <a:latin typeface="Calibri"/>
              </a:defRPr>
            </a:pPr>
            <a:r>
              <a:t>• 90% Alert Reduction: Entity-level risk scoring collapses 62.4k raw logs into actionable incident priorities.</a:t>
            </a:r>
          </a:p>
          <a:p>
            <a:pPr>
              <a:spcBef>
                <a:spcPts val="400"/>
              </a:spcBef>
              <a:defRPr sz="1050">
                <a:solidFill>
                  <a:srgbClr val="E2E8F0"/>
                </a:solidFill>
                <a:latin typeface="Calibri"/>
              </a:defRPr>
            </a:pPr>
            <a:r>
              <a:t>• 12+ Hours Saved / Incident: Automated CISO executive audit briefs eliminate manual report writing.</a:t>
            </a:r>
          </a:p>
          <a:p>
            <a:pPr>
              <a:spcBef>
                <a:spcPts val="400"/>
              </a:spcBef>
              <a:defRPr sz="1050">
                <a:solidFill>
                  <a:srgbClr val="E2E8F0"/>
                </a:solidFill>
                <a:latin typeface="Calibri"/>
              </a:defRPr>
            </a:pPr>
            <a:r>
              <a:t>• Role-Based Personas: Instant 1-click clearance switching for Incident Commanders, Analysts, and CISOs.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46720" y="1463040"/>
            <a:ext cx="3383280" cy="475488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2836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46720" y="1463040"/>
            <a:ext cx="3383280" cy="4572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11312" y="1572768"/>
            <a:ext cx="3054096" cy="45354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Trebuchet MS"/>
              </a:defRPr>
            </a:pPr>
            <a:r>
              <a:t>3. Scalability Roadmap</a:t>
            </a:r>
          </a:p>
          <a:p>
            <a:pPr>
              <a:defRPr sz="850" b="1">
                <a:solidFill>
                  <a:srgbClr val="A855F7"/>
                </a:solidFill>
                <a:latin typeface="Calibri"/>
              </a:defRPr>
            </a:pPr>
            <a:r>
              <a:t>[FUTURE ROADMAP]</a:t>
            </a:r>
          </a:p>
          <a:p>
            <a:pPr>
              <a:spcBef>
                <a:spcPts val="400"/>
              </a:spcBef>
              <a:defRPr sz="1050">
                <a:solidFill>
                  <a:srgbClr val="E2E8F0"/>
                </a:solidFill>
                <a:latin typeface="Calibri"/>
              </a:defRPr>
            </a:pPr>
            <a:r>
              <a:t>• Cloud Lakehouse Connectors: Direct connectors for Snowflake, BigQuery, AWS S3 &amp; Databricks.</a:t>
            </a:r>
          </a:p>
          <a:p>
            <a:pPr>
              <a:spcBef>
                <a:spcPts val="400"/>
              </a:spcBef>
              <a:defRPr sz="1050">
                <a:solidFill>
                  <a:srgbClr val="E2E8F0"/>
                </a:solidFill>
                <a:latin typeface="Calibri"/>
              </a:defRPr>
            </a:pPr>
            <a:r>
              <a:t>• eBPF Kernel Tracing: Zero-overhead Linux kernel probes for runtime process &amp; socket inspection.</a:t>
            </a:r>
          </a:p>
          <a:p>
            <a:pPr>
              <a:spcBef>
                <a:spcPts val="400"/>
              </a:spcBef>
              <a:defRPr sz="1050">
                <a:solidFill>
                  <a:srgbClr val="E2E8F0"/>
                </a:solidFill>
                <a:latin typeface="Calibri"/>
              </a:defRPr>
            </a:pPr>
            <a:r>
              <a:t>• Federated Identity Mesh: Real-time sync with Okta, Azure Active Directory, and Google Workspace.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0F172A"/>
          </a:solidFill>
          <a:ln w="6350">
            <a:solidFill>
              <a:srgbClr val="2836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528816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Calibri"/>
              </a:defRPr>
            </a:pPr>
            <a:r>
              <a:t>🛡️ AgentIQ SENTINEL  •  Continuous Zero-Trust Cognitive Cyber Defense  •  TransOrg Datathon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0" y="6528816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 b="1">
                <a:solidFill>
                  <a:srgbClr val="06B6D4"/>
                </a:solidFill>
                <a:latin typeface="Calibri"/>
              </a:defRPr>
            </a:pPr>
            <a:r>
              <a:t>CONFIDENTIAL  |  SLIDE 15 OF 15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92608"/>
            <a:ext cx="3108960" cy="256032"/>
          </a:xfrm>
          <a:prstGeom prst="roundRect">
            <a:avLst/>
          </a:prstGeom>
          <a:solidFill>
            <a:srgbClr val="18223A"/>
          </a:solidFill>
          <a:ln w="1016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92608"/>
            <a:ext cx="30175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1">
                <a:solidFill>
                  <a:srgbClr val="06B6D4"/>
                </a:solidFill>
                <a:latin typeface="Trebuchet MS"/>
              </a:defRPr>
            </a:pPr>
            <a:r>
              <a:t>⚡ 14. SUMMARY &amp; LIVE DEMO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9436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FFFFFF"/>
                </a:solidFill>
                <a:latin typeface="Trebuchet MS"/>
              </a:defRPr>
            </a:pPr>
            <a:r>
              <a:t>Conclusion &amp; Hackathon Evaluation Deliverables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078992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94A3B8"/>
                </a:solidFill>
                <a:latin typeface="Calibri"/>
              </a:defRPr>
            </a:pPr>
            <a:r>
              <a:t>AgentIQ Sentinel delivers continuous zero-trust cognitive defense with sub-8ms DuckDB OLAP &amp; Dual-AI.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1463040"/>
            <a:ext cx="5212080" cy="475488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2836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1520" y="1463040"/>
            <a:ext cx="5212080" cy="4572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1572768"/>
            <a:ext cx="4882896" cy="45354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Trebuchet MS"/>
              </a:defRPr>
            </a:pPr>
            <a:r>
              <a:t>Key Hackathon Deliverables</a:t>
            </a:r>
          </a:p>
          <a:p>
            <a:pPr>
              <a:defRPr sz="850" b="1">
                <a:solidFill>
                  <a:srgbClr val="06B6D4"/>
                </a:solidFill>
                <a:latin typeface="Calibri"/>
              </a:defRPr>
            </a:pPr>
            <a:r>
              <a:t>[KEY ACCOMPLISHMENTS]</a:t>
            </a:r>
          </a:p>
          <a:p>
            <a:pPr>
              <a:spcBef>
                <a:spcPts val="400"/>
              </a:spcBef>
              <a:defRPr sz="1050">
                <a:solidFill>
                  <a:srgbClr val="E2E8F0"/>
                </a:solidFill>
                <a:latin typeface="Calibri"/>
              </a:defRPr>
            </a:pPr>
            <a:r>
              <a:t>• Unified 62,431 Multi-Vector Events: Harmonized HR, IAM, Firewall, and EDR into in-memory DuckDB OLAP.</a:t>
            </a:r>
          </a:p>
          <a:p>
            <a:pPr>
              <a:spcBef>
                <a:spcPts val="400"/>
              </a:spcBef>
              <a:defRPr sz="1050">
                <a:solidFill>
                  <a:srgbClr val="E2E8F0"/>
                </a:solidFill>
                <a:latin typeface="Calibri"/>
              </a:defRPr>
            </a:pPr>
            <a:r>
              <a:t>• Identified 507 Offboarded Breaches: 100% precision in surfacing active terminated employee accounts.</a:t>
            </a:r>
          </a:p>
          <a:p>
            <a:pPr>
              <a:spcBef>
                <a:spcPts val="400"/>
              </a:spcBef>
              <a:defRPr sz="1050">
                <a:solidFill>
                  <a:srgbClr val="E2E8F0"/>
                </a:solidFill>
                <a:latin typeface="Calibri"/>
              </a:defRPr>
            </a:pPr>
            <a:r>
              <a:t>• Pioneered Clock-Skew Forensics: 483 temporal paradoxes validated with SHA-256 Merkle proof trees.</a:t>
            </a:r>
          </a:p>
          <a:p>
            <a:pPr>
              <a:spcBef>
                <a:spcPts val="400"/>
              </a:spcBef>
              <a:defRPr sz="1050">
                <a:solidFill>
                  <a:srgbClr val="E2E8F0"/>
                </a:solidFill>
                <a:latin typeface="Calibri"/>
              </a:defRPr>
            </a:pPr>
            <a:r>
              <a:t>• Engineered Dual-Model Cognitive AI: Groq 120B Text-to-SQL (&lt; 120ms) + Gemini 2.5 Strategic CISO reasoning.</a:t>
            </a:r>
          </a:p>
          <a:p>
            <a:pPr>
              <a:spcBef>
                <a:spcPts val="400"/>
              </a:spcBef>
              <a:defRPr sz="1050">
                <a:solidFill>
                  <a:srgbClr val="E2E8F0"/>
                </a:solidFill>
                <a:latin typeface="Calibri"/>
              </a:defRPr>
            </a:pPr>
            <a:r>
              <a:t>• Built 1-Click SOAR Sandbox: Sub-300ms multi-vector automated containment and quarantine.</a:t>
            </a:r>
          </a:p>
          <a:p>
            <a:pPr>
              <a:spcBef>
                <a:spcPts val="400"/>
              </a:spcBef>
              <a:defRPr sz="1050">
                <a:solidFill>
                  <a:srgbClr val="E2E8F0"/>
                </a:solidFill>
                <a:latin typeface="Calibri"/>
              </a:defRPr>
            </a:pPr>
            <a:r>
              <a:t>• 100% Responsive React 18 HUD: Production-grade dark glassmorphism deployed live on Vercel.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2836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0" y="1463040"/>
            <a:ext cx="5212080" cy="457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82512" y="1572768"/>
            <a:ext cx="4882896" cy="45354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Trebuchet MS"/>
              </a:defRPr>
            </a:pPr>
            <a:r>
              <a:t>Live Production Links &amp; Jury Access</a:t>
            </a:r>
          </a:p>
          <a:p>
            <a:pPr>
              <a:defRPr sz="850" b="1">
                <a:solidFill>
                  <a:srgbClr val="10B981"/>
                </a:solidFill>
                <a:latin typeface="Calibri"/>
              </a:defRPr>
            </a:pPr>
            <a:r>
              <a:t>[LIVE ACCESS &amp; DEMO]</a:t>
            </a:r>
          </a:p>
          <a:p>
            <a:pPr>
              <a:spcBef>
                <a:spcPts val="400"/>
              </a:spcBef>
              <a:defRPr sz="1050">
                <a:solidFill>
                  <a:srgbClr val="E2E8F0"/>
                </a:solidFill>
                <a:latin typeface="Calibri"/>
              </a:defRPr>
            </a:pPr>
            <a:r>
              <a:t>• Live Production Portal: https://cognitive-cyber-defense.vercel.app</a:t>
            </a:r>
          </a:p>
          <a:p>
            <a:pPr>
              <a:spcBef>
                <a:spcPts val="400"/>
              </a:spcBef>
              <a:defRPr sz="1050">
                <a:solidFill>
                  <a:srgbClr val="E2E8F0"/>
                </a:solidFill>
                <a:latin typeface="Calibri"/>
              </a:defRPr>
            </a:pPr>
            <a:r>
              <a:t>• GitHub Open-Source Repository: https://github.com/abdullah213m/cognitive-cyber-defense</a:t>
            </a:r>
          </a:p>
          <a:p>
            <a:pPr>
              <a:spcBef>
                <a:spcPts val="400"/>
              </a:spcBef>
              <a:defRPr sz="1050">
                <a:solidFill>
                  <a:srgbClr val="E2E8F0"/>
                </a:solidFill>
                <a:latin typeface="Calibri"/>
              </a:defRPr>
            </a:pPr>
            <a:r>
              <a:t>• FastAPI Production Backend: 10 Asynchronous REST endpoints with DuckDB star schema.</a:t>
            </a:r>
          </a:p>
          <a:p>
            <a:pPr>
              <a:spcBef>
                <a:spcPts val="400"/>
              </a:spcBef>
              <a:defRPr sz="1050">
                <a:solidFill>
                  <a:srgbClr val="E2E8F0"/>
                </a:solidFill>
                <a:latin typeface="Calibri"/>
              </a:defRPr>
            </a:pPr>
            <a:r>
              <a:t>• Interactive Dual-AI Copilot: Active and ready for live query execution.</a:t>
            </a:r>
          </a:p>
          <a:p>
            <a:pPr>
              <a:spcBef>
                <a:spcPts val="400"/>
              </a:spcBef>
              <a:defRPr sz="1050">
                <a:solidFill>
                  <a:srgbClr val="E2E8F0"/>
                </a:solidFill>
                <a:latin typeface="Calibri"/>
              </a:defRPr>
            </a:pPr>
            <a:r>
              <a:t>• Role Simulation Portal: 4 Operator Clearance profiles ready for interactive jury evaluation.</a:t>
            </a:r>
          </a:p>
          <a:p>
            <a:pPr>
              <a:spcBef>
                <a:spcPts val="400"/>
              </a:spcBef>
              <a:defRPr sz="1050">
                <a:solidFill>
                  <a:srgbClr val="E2E8F0"/>
                </a:solidFill>
                <a:latin typeface="Calibri"/>
              </a:defRPr>
            </a:pPr>
            <a:r>
              <a:t>• Thank You!: Ready for Evaluator Q&amp;A and Live System Demonstration.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